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We are SynapTechBio. We are building the operating system for neuromorphic intelligence. Biological brains run on microwatts. Today's AI demands megawatts. We are bridging that gap, and building a democratized commons for all of humanity. I am Sami Torres, founder and CEO.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Biological brains run on just 20 watts for 86 billion neurons. A single GPT-3 inference uses 600 joules per token - enough to run a fly brain for a billion lifetimes. We are hitting the Silicon Wall. The scaling laws that drove a decade of AI progress are breaking.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Eon Systems just proved something extraordinary - they emulated 125,000 neurons to drive a simulated fly body in real-time. Structural wiring alone generated behavior. No massive training set. No backpropagation. This is the validation that changes everything. SynapTechBio is the compiler that takes this biological insight and makes it deployable at enterprise scale.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VOID: The web corpus is running dry. There is no ImageNet for neural computation. Every lab builds their own pipeline from scratch. But the connectome is a gift - Nature just gave us the first complete wiring diagram of a brain. The question is: can we run it, perturb it, learn from it? That is what SynapTech does.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The IDRE is our core innovation. A GPU-accelerated sparse graph engine that runs the fruit fly connectome natively. Instead of dense attention layers, we use Compressed Sparse Column format. Result: 5x latency reduction and 20x energy savings versus dense architectures. This is the compiler that takes biology and turns it into executable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SCIENCE: This is not synthetic. This is the real FlyWire connectome published in Nature 2024 - 139,000 neurons, 50 million synapses, validated by 50+ neuroscientists. Every component of our system has been verified against reference implementations. The science is solid.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Our FlyWire LSM is operational today. 500 spiking neurons, two brain regions with different timescales, &gt;95% accuracy on next-token prediction. Trains in 30 seconds on any laptop. Every neuron visible in 3D in real-time. Structural topology yields functional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MOAT: The Data Capture Split Layer is our moat. Every request forks: proprietary IP encrypted with AES-256-GCM to S3 - we cannot read it. Anonymized telemetry feeds a DeepSeek-V4 alignment engine that produces the Living Blueprint, an ever-improving open-weights foundation model owned by the community. IP sovereignty plus open science.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Let me walk you through what we have built. The sign-in screen morphs from fractal to 130,000 neuron positions. The dashboard shows the full brain with orbital controls. SSE streams neural pulses in real-time. Activate a region and watch the pulse cascade. Extract subgraphs. Compile to Intel Loihi. All working today. [Add screenshots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RPaaS - Research-Platform-as-a-Service. Free tier for community. $300k ACV per researcher hub. Target 1,500 hubs in 5 years equals $450M ARR. Plus the platform effect from the Living Blueprint that gets smarter with every researcher.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$1.8T TAM, $300B SAM, $450M SOM. Four high-growth segments: neuromorphic computing at 74% CAGR, brain simulation at 43% CAGR. Achievable through STTR grants and university partnerships.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No one occupies our quadrant. Google is proprietary. Intel INRC requires grants. FlyWire Codex is static - you can look but cannot compute. We are the only platform combining open access, cloud Loihi hardware, live connectome execution, IP protection, and a continuously improving open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Four visionary phases - Fruit Fly Benchmark (deploy IDRE), Neural Foundation Model (data moat via DCSL), Mammalian Scale (biopharma synths for Alzheimers), North Star (canine connectome, embodied consciousness). Underneath, 7 execution phases in 26 weeks for $150k.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TRACTION: We have built the complete IDRE backend, FlyWire LSM, 3D brain viewer, DCSL middleware, Loihi bridge, Docker deployment - all operational. Our STTR strategy gives us access to Stanford, MIT, UCSD labs with non-dilutive federal funding. Phase I: ~$250k. Phase II: ~$1M.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VISION: The Intellect Commons is our north star. We fund the hardware. Researchers bring the genius. The intelligence belongs to the people. Seven-phase lifecycle from discovery to governance. Open weights, community-owned, continuously improving. This is not a SaaS trap - it is a planetary-scale neural foundry.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We are raising $150,000 pre-seed. 60% compute infrastructure, 40% engineering and IP. Delaware C-Corp, post-money SAFE. 18-month runway. Milestones: security audit, first researcher, YC demo, 10k queries/day sustained. We are capital-efficient. This is what we need.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Will the future of neuromorphic AI be locked in a corporate walled garden, or will it be a democratized neuromorphic commons belonging to humanity? Join the Intellect Commons. The biological computing revolution begins now. I would love a 15-minute introductory sync to show you the live demo.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pic>
        <p:nvPicPr>
          <p:cNvPr id="2" name="Picture 1" descr="SynapTechLogo.png"/>
          <p:cNvPicPr>
            <a:picLocks noChangeAspect="1"/>
          </p:cNvPicPr>
          <p:nvPr/>
        </p:nvPicPr>
        <p:blipFill>
          <a:blip r:embed="rId2"/>
          <a:stretch>
            <a:fillRect/>
          </a:stretch>
        </p:blipFill>
        <p:spPr>
          <a:xfrm>
            <a:off x="6" y="2"/>
            <a:ext cx="1" cy="1"/>
          </a:xfrm>
          <a:prstGeom prst="rect">
            <a:avLst/>
          </a:prstGeom>
        </p:spPr>
      </p:pic>
      <p:sp>
        <p:nvSpPr>
          <p:cNvPr id="3" name="TextBox 2"/>
          <p:cNvSpPr txBox="1"/>
          <p:nvPr/>
        </p:nvSpPr>
        <p:spPr>
          <a:xfrm>
            <a:off x="914400" y="3108960"/>
            <a:ext cx="10058400" cy="1097280"/>
          </a:xfrm>
          <a:prstGeom prst="rect">
            <a:avLst/>
          </a:prstGeom>
          <a:noFill/>
        </p:spPr>
        <p:txBody>
          <a:bodyPr wrap="square">
            <a:spAutoFit/>
          </a:bodyPr>
          <a:lstStyle/>
          <a:p>
            <a:pPr algn="ctr">
              <a:defRPr sz="5200" b="1">
                <a:solidFill>
                  <a:srgbClr val="FEFEFE"/>
                </a:solidFill>
                <a:latin typeface="Calibri"/>
              </a:defRPr>
            </a:pPr>
            <a:r>
              <a:t>SynapTechBio</a:t>
            </a:r>
          </a:p>
        </p:txBody>
      </p:sp>
      <p:sp>
        <p:nvSpPr>
          <p:cNvPr id="4" name="TextBox 3"/>
          <p:cNvSpPr txBox="1"/>
          <p:nvPr/>
        </p:nvSpPr>
        <p:spPr>
          <a:xfrm>
            <a:off x="914400" y="4023360"/>
            <a:ext cx="10058400" cy="548640"/>
          </a:xfrm>
          <a:prstGeom prst="rect">
            <a:avLst/>
          </a:prstGeom>
          <a:noFill/>
        </p:spPr>
        <p:txBody>
          <a:bodyPr wrap="square">
            <a:spAutoFit/>
          </a:bodyPr>
          <a:lstStyle/>
          <a:p>
            <a:pPr algn="ctr">
              <a:defRPr sz="2400" b="0">
                <a:solidFill>
                  <a:srgbClr val="54B3B3"/>
                </a:solidFill>
                <a:latin typeface="Calibri"/>
              </a:defRPr>
            </a:pPr>
            <a:r>
              <a:t>The Operating System for Neuromorphic Intelligence</a:t>
            </a:r>
          </a:p>
        </p:txBody>
      </p:sp>
      <p:sp>
        <p:nvSpPr>
          <p:cNvPr id="5" name="TextBox 4"/>
          <p:cNvSpPr txBox="1"/>
          <p:nvPr/>
        </p:nvSpPr>
        <p:spPr>
          <a:xfrm>
            <a:off x="1828800" y="4754880"/>
            <a:ext cx="8229600" cy="640080"/>
          </a:xfrm>
          <a:prstGeom prst="rect">
            <a:avLst/>
          </a:prstGeom>
          <a:noFill/>
        </p:spPr>
        <p:txBody>
          <a:bodyPr wrap="square">
            <a:spAutoFit/>
          </a:bodyPr>
          <a:lstStyle/>
          <a:p>
            <a:pPr algn="ctr">
              <a:defRPr sz="1400" b="0">
                <a:solidFill>
                  <a:srgbClr val="8A9AAA"/>
                </a:solidFill>
                <a:latin typeface="Calibri"/>
              </a:defRPr>
            </a:pPr>
            <a:r>
              <a:t>Building the democratized neuromorphic commons for all of humanity</a:t>
            </a:r>
          </a:p>
        </p:txBody>
      </p:sp>
      <p:sp>
        <p:nvSpPr>
          <p:cNvPr id="6" name="TextBox 5"/>
          <p:cNvSpPr txBox="1"/>
          <p:nvPr/>
        </p:nvSpPr>
        <p:spPr>
          <a:xfrm>
            <a:off x="2743200" y="5943600"/>
            <a:ext cx="6400800" cy="365760"/>
          </a:xfrm>
          <a:prstGeom prst="rect">
            <a:avLst/>
          </a:prstGeom>
          <a:noFill/>
        </p:spPr>
        <p:txBody>
          <a:bodyPr wrap="square">
            <a:spAutoFit/>
          </a:bodyPr>
          <a:lstStyle/>
          <a:p>
            <a:pPr algn="ctr">
              <a:defRPr sz="1100" b="0">
                <a:solidFill>
                  <a:srgbClr val="7DD4D4"/>
                </a:solidFill>
                <a:latin typeface="Calibri"/>
              </a:defRPr>
            </a:pPr>
            <a:r>
              <a:t>Sami Torres, Founder &amp; CEO  |  SamiT2825@synaptechbio.org</a:t>
            </a: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The Silicon Wall</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Microwatts vs Megawatts — the AI energy crisis</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2 / 17</a:t>
            </a:r>
          </a:p>
        </p:txBody>
      </p:sp>
      <p:sp>
        <p:nvSpPr>
          <p:cNvPr id="8" name="TextBox 7"/>
          <p:cNvSpPr txBox="1"/>
          <p:nvPr/>
        </p:nvSpPr>
        <p:spPr>
          <a:xfrm>
            <a:off x="731520" y="1828800"/>
            <a:ext cx="5486400" cy="4572000"/>
          </a:xfrm>
          <a:prstGeom prst="rect">
            <a:avLst/>
          </a:prstGeom>
          <a:noFill/>
        </p:spPr>
        <p:txBody>
          <a:bodyPr wrap="square">
            <a:spAutoFit/>
          </a:bodyPr>
          <a:lstStyle/>
          <a:p>
            <a:pPr>
              <a:spcAft>
                <a:spcPts val="600"/>
              </a:spcAft>
              <a:defRPr sz="1400">
                <a:solidFill>
                  <a:srgbClr val="FEFEFE"/>
                </a:solidFill>
                <a:latin typeface="Calibri"/>
              </a:defRPr>
            </a:pPr>
            <a:r>
              <a:t>Biological brain: ~20W for 86B neurons. GPT-3 inference: ~600J per token.</a:t>
            </a:r>
          </a:p>
          <a:p>
            <a:pPr>
              <a:spcAft>
                <a:spcPts val="600"/>
              </a:spcAft>
              <a:defRPr sz="1400">
                <a:solidFill>
                  <a:srgbClr val="FEFEFE"/>
                </a:solidFill>
                <a:latin typeface="Calibri"/>
              </a:defRPr>
            </a:pPr>
            <a:r>
              <a:t>A single LLM query consumes enough energy to run a fly brain for 10^9 lifetimes.</a:t>
            </a:r>
          </a:p>
          <a:p>
            <a:pPr>
              <a:spcAft>
                <a:spcPts val="600"/>
              </a:spcAft>
              <a:defRPr sz="1400">
                <a:solidFill>
                  <a:srgbClr val="FEFEFE"/>
                </a:solidFill>
                <a:latin typeface="Calibri"/>
              </a:defRPr>
            </a:pPr>
            <a:r>
              <a:t>Training frontier models: 10,000+ GPUs for months, $10M+ costs.</a:t>
            </a:r>
          </a:p>
          <a:p>
            <a:pPr>
              <a:spcAft>
                <a:spcPts val="600"/>
              </a:spcAft>
              <a:defRPr sz="1400">
                <a:solidFill>
                  <a:srgbClr val="FEFEFE"/>
                </a:solidFill>
                <a:latin typeface="Calibri"/>
              </a:defRPr>
            </a:pPr>
            <a:r>
              <a:t>Dense Transformers are hitting physical and economic walls.</a:t>
            </a:r>
          </a:p>
          <a:p>
            <a:pPr>
              <a:spcAft>
                <a:spcPts val="600"/>
              </a:spcAft>
              <a:defRPr sz="1400">
                <a:solidFill>
                  <a:srgbClr val="FEFEFE"/>
                </a:solidFill>
                <a:latin typeface="Calibri"/>
              </a:defRPr>
            </a:pPr>
            <a:r>
              <a:t>Scaling laws are breaking. More data + more compute no longer yields proportionally better results.</a:t>
            </a:r>
          </a:p>
        </p:txBody>
      </p:sp>
      <p:sp>
        <p:nvSpPr>
          <p:cNvPr id="9" name="Rounded Rectangle 8"/>
          <p:cNvSpPr/>
          <p:nvPr/>
        </p:nvSpPr>
        <p:spPr>
          <a:xfrm>
            <a:off x="6858000" y="1828800"/>
            <a:ext cx="2103120" cy="1371600"/>
          </a:xfrm>
          <a:prstGeom prst="roundRect">
            <a:avLst/>
          </a:prstGeom>
          <a:solidFill>
            <a:srgbClr val="17445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2011680"/>
            <a:ext cx="1828799" cy="548640"/>
          </a:xfrm>
          <a:prstGeom prst="rect">
            <a:avLst/>
          </a:prstGeom>
          <a:noFill/>
        </p:spPr>
        <p:txBody>
          <a:bodyPr wrap="square">
            <a:spAutoFit/>
          </a:bodyPr>
          <a:lstStyle/>
          <a:p>
            <a:pPr algn="ctr">
              <a:defRPr sz="2800" b="1">
                <a:solidFill>
                  <a:srgbClr val="00FF88"/>
                </a:solidFill>
                <a:latin typeface="Calibri"/>
              </a:defRPr>
            </a:pPr>
            <a:r>
              <a:t>~20W</a:t>
            </a:r>
          </a:p>
        </p:txBody>
      </p:sp>
      <p:sp>
        <p:nvSpPr>
          <p:cNvPr id="11" name="TextBox 10"/>
          <p:cNvSpPr txBox="1"/>
          <p:nvPr/>
        </p:nvSpPr>
        <p:spPr>
          <a:xfrm>
            <a:off x="6949440" y="2468880"/>
            <a:ext cx="1920239" cy="457200"/>
          </a:xfrm>
          <a:prstGeom prst="rect">
            <a:avLst/>
          </a:prstGeom>
          <a:noFill/>
        </p:spPr>
        <p:txBody>
          <a:bodyPr wrap="square">
            <a:spAutoFit/>
          </a:bodyPr>
          <a:lstStyle/>
          <a:p>
            <a:pPr algn="ctr">
              <a:defRPr sz="1100" b="0">
                <a:solidFill>
                  <a:srgbClr val="FEFEFE"/>
                </a:solidFill>
                <a:latin typeface="Calibri"/>
              </a:defRPr>
            </a:pPr>
            <a:r>
              <a:t>Human brain</a:t>
            </a:r>
            <a:br/>
            <a:r>
              <a:t>power draw</a:t>
            </a:r>
          </a:p>
        </p:txBody>
      </p:sp>
      <p:sp>
        <p:nvSpPr>
          <p:cNvPr id="12" name="Rounded Rectangle 11"/>
          <p:cNvSpPr/>
          <p:nvPr/>
        </p:nvSpPr>
        <p:spPr>
          <a:xfrm>
            <a:off x="9326880" y="1828800"/>
            <a:ext cx="2103120" cy="1371600"/>
          </a:xfrm>
          <a:prstGeom prst="roundRect">
            <a:avLst/>
          </a:prstGeom>
          <a:solidFill>
            <a:srgbClr val="174458"/>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64040" y="2011680"/>
            <a:ext cx="1828799" cy="548640"/>
          </a:xfrm>
          <a:prstGeom prst="rect">
            <a:avLst/>
          </a:prstGeom>
          <a:noFill/>
        </p:spPr>
        <p:txBody>
          <a:bodyPr wrap="square">
            <a:spAutoFit/>
          </a:bodyPr>
          <a:lstStyle/>
          <a:p>
            <a:pPr algn="ctr">
              <a:defRPr sz="2800" b="1">
                <a:solidFill>
                  <a:srgbClr val="FF6B6B"/>
                </a:solidFill>
                <a:latin typeface="Calibri"/>
              </a:defRPr>
            </a:pPr>
            <a:r>
              <a:t>~600J</a:t>
            </a:r>
          </a:p>
        </p:txBody>
      </p:sp>
      <p:sp>
        <p:nvSpPr>
          <p:cNvPr id="14" name="TextBox 13"/>
          <p:cNvSpPr txBox="1"/>
          <p:nvPr/>
        </p:nvSpPr>
        <p:spPr>
          <a:xfrm>
            <a:off x="9418319" y="2468880"/>
            <a:ext cx="1920239" cy="457200"/>
          </a:xfrm>
          <a:prstGeom prst="rect">
            <a:avLst/>
          </a:prstGeom>
          <a:noFill/>
        </p:spPr>
        <p:txBody>
          <a:bodyPr wrap="square">
            <a:spAutoFit/>
          </a:bodyPr>
          <a:lstStyle/>
          <a:p>
            <a:pPr algn="ctr">
              <a:defRPr sz="1100" b="0">
                <a:solidFill>
                  <a:srgbClr val="FEFEFE"/>
                </a:solidFill>
                <a:latin typeface="Calibri"/>
              </a:defRPr>
            </a:pPr>
            <a:r>
              <a:t>GPT-3 per</a:t>
            </a:r>
            <a:br/>
            <a:r>
              <a:t>token inference</a:t>
            </a:r>
          </a:p>
        </p:txBody>
      </p:sp>
      <p:sp>
        <p:nvSpPr>
          <p:cNvPr id="15" name="Rounded Rectangle 14"/>
          <p:cNvSpPr/>
          <p:nvPr/>
        </p:nvSpPr>
        <p:spPr>
          <a:xfrm>
            <a:off x="6858000" y="3657600"/>
            <a:ext cx="2103120" cy="1371600"/>
          </a:xfrm>
          <a:prstGeom prst="roundRect">
            <a:avLst/>
          </a:prstGeom>
          <a:solidFill>
            <a:srgbClr val="174458"/>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3840480"/>
            <a:ext cx="1828799" cy="548640"/>
          </a:xfrm>
          <a:prstGeom prst="rect">
            <a:avLst/>
          </a:prstGeom>
          <a:noFill/>
        </p:spPr>
        <p:txBody>
          <a:bodyPr wrap="square">
            <a:spAutoFit/>
          </a:bodyPr>
          <a:lstStyle/>
          <a:p>
            <a:pPr algn="ctr">
              <a:defRPr sz="2800" b="1">
                <a:solidFill>
                  <a:srgbClr val="FF6B6B"/>
                </a:solidFill>
                <a:latin typeface="Calibri"/>
              </a:defRPr>
            </a:pPr>
            <a:r>
              <a:t>$10M+</a:t>
            </a:r>
          </a:p>
        </p:txBody>
      </p:sp>
      <p:sp>
        <p:nvSpPr>
          <p:cNvPr id="17" name="TextBox 16"/>
          <p:cNvSpPr txBox="1"/>
          <p:nvPr/>
        </p:nvSpPr>
        <p:spPr>
          <a:xfrm>
            <a:off x="6949440" y="4297680"/>
            <a:ext cx="1920239" cy="457200"/>
          </a:xfrm>
          <a:prstGeom prst="rect">
            <a:avLst/>
          </a:prstGeom>
          <a:noFill/>
        </p:spPr>
        <p:txBody>
          <a:bodyPr wrap="square">
            <a:spAutoFit/>
          </a:bodyPr>
          <a:lstStyle/>
          <a:p>
            <a:pPr algn="ctr">
              <a:defRPr sz="1100" b="0">
                <a:solidFill>
                  <a:srgbClr val="FEFEFE"/>
                </a:solidFill>
                <a:latin typeface="Calibri"/>
              </a:defRPr>
            </a:pPr>
            <a:r>
              <a:t>Single training</a:t>
            </a:r>
            <a:br/>
            <a:r>
              <a:t>run cost</a:t>
            </a:r>
          </a:p>
        </p:txBody>
      </p:sp>
      <p:sp>
        <p:nvSpPr>
          <p:cNvPr id="18" name="Rounded Rectangle 17"/>
          <p:cNvSpPr/>
          <p:nvPr/>
        </p:nvSpPr>
        <p:spPr>
          <a:xfrm>
            <a:off x="9326880" y="3657600"/>
            <a:ext cx="2103120" cy="1371600"/>
          </a:xfrm>
          <a:prstGeom prst="roundRect">
            <a:avLst/>
          </a:prstGeom>
          <a:solidFill>
            <a:srgbClr val="174458"/>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3840480"/>
            <a:ext cx="1828799" cy="548640"/>
          </a:xfrm>
          <a:prstGeom prst="rect">
            <a:avLst/>
          </a:prstGeom>
          <a:noFill/>
        </p:spPr>
        <p:txBody>
          <a:bodyPr wrap="square">
            <a:spAutoFit/>
          </a:bodyPr>
          <a:lstStyle/>
          <a:p>
            <a:pPr algn="ctr">
              <a:defRPr sz="2800" b="1">
                <a:solidFill>
                  <a:srgbClr val="FF6B6B"/>
                </a:solidFill>
                <a:latin typeface="Calibri"/>
              </a:defRPr>
            </a:pPr>
            <a:r>
              <a:t>10K+</a:t>
            </a:r>
          </a:p>
        </p:txBody>
      </p:sp>
      <p:sp>
        <p:nvSpPr>
          <p:cNvPr id="20" name="TextBox 19"/>
          <p:cNvSpPr txBox="1"/>
          <p:nvPr/>
        </p:nvSpPr>
        <p:spPr>
          <a:xfrm>
            <a:off x="9418319" y="4297680"/>
            <a:ext cx="1920239" cy="457200"/>
          </a:xfrm>
          <a:prstGeom prst="rect">
            <a:avLst/>
          </a:prstGeom>
          <a:noFill/>
        </p:spPr>
        <p:txBody>
          <a:bodyPr wrap="square">
            <a:spAutoFit/>
          </a:bodyPr>
          <a:lstStyle/>
          <a:p>
            <a:pPr algn="ctr">
              <a:defRPr sz="1100" b="0">
                <a:solidFill>
                  <a:srgbClr val="FEFEFE"/>
                </a:solidFill>
                <a:latin typeface="Calibri"/>
              </a:defRPr>
            </a:pPr>
            <a:r>
              <a:t>GPUs for 3 months</a:t>
            </a:r>
            <a:br/>
            <a:r>
              <a:t>per frontier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Grounding Reality</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This is engineering, not science fiction</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3 / 17</a:t>
            </a:r>
          </a:p>
        </p:txBody>
      </p:sp>
      <p:sp>
        <p:nvSpPr>
          <p:cNvPr id="8" name="TextBox 7"/>
          <p:cNvSpPr txBox="1"/>
          <p:nvPr/>
        </p:nvSpPr>
        <p:spPr>
          <a:xfrm>
            <a:off x="731520" y="1828800"/>
            <a:ext cx="5486400" cy="4572000"/>
          </a:xfrm>
          <a:prstGeom prst="rect">
            <a:avLst/>
          </a:prstGeom>
          <a:noFill/>
        </p:spPr>
        <p:txBody>
          <a:bodyPr wrap="square">
            <a:spAutoFit/>
          </a:bodyPr>
          <a:lstStyle/>
          <a:p>
            <a:pPr>
              <a:spcAft>
                <a:spcPts val="600"/>
              </a:spcAft>
              <a:defRPr sz="1500">
                <a:solidFill>
                  <a:srgbClr val="FEFEFE"/>
                </a:solidFill>
                <a:latin typeface="Calibri"/>
              </a:defRPr>
            </a:pPr>
            <a:r>
              <a:t>Eon Systems successfully emulated 125,000 biological neurons to drive a simulated fly body in real-time.</a:t>
            </a:r>
          </a:p>
          <a:p>
            <a:pPr>
              <a:spcAft>
                <a:spcPts val="600"/>
              </a:spcAft>
              <a:defRPr sz="1500">
                <a:solidFill>
                  <a:srgbClr val="FEFEFE"/>
                </a:solidFill>
                <a:latin typeface="Calibri"/>
              </a:defRPr>
            </a:pPr>
            <a:r>
              <a:t>They proved structural wiring alone can generate complex behavior without brute-force training.</a:t>
            </a:r>
          </a:p>
          <a:p>
            <a:pPr>
              <a:spcAft>
                <a:spcPts val="600"/>
              </a:spcAft>
              <a:defRPr sz="1500">
                <a:solidFill>
                  <a:srgbClr val="FEFEFE"/>
                </a:solidFill>
                <a:latin typeface="Calibri"/>
              </a:defRPr>
            </a:pPr>
            <a:r>
              <a:t>The bottleneck is no longer biological understanding — it is computational infrastructure.</a:t>
            </a:r>
          </a:p>
          <a:p>
            <a:pPr>
              <a:spcAft>
                <a:spcPts val="600"/>
              </a:spcAft>
              <a:defRPr sz="1500">
                <a:solidFill>
                  <a:srgbClr val="FEFEFE"/>
                </a:solidFill>
                <a:latin typeface="Calibri"/>
              </a:defRPr>
            </a:pPr>
            <a:r>
              <a:t>While labs focus on simulation science, SynapTech is building the commercial compiler.</a:t>
            </a:r>
          </a:p>
          <a:p>
            <a:pPr>
              <a:spcAft>
                <a:spcPts val="600"/>
              </a:spcAft>
              <a:defRPr sz="1500">
                <a:solidFill>
                  <a:srgbClr val="FEFEFE"/>
                </a:solidFill>
                <a:latin typeface="Calibri"/>
              </a:defRPr>
            </a:pPr>
            <a:r>
              <a:t>Our IDRE is the bridge from lab discovery to enterprise-scale neuromorphic deployment.</a:t>
            </a:r>
          </a:p>
        </p:txBody>
      </p:sp>
      <p:sp>
        <p:nvSpPr>
          <p:cNvPr id="9" name="TextBox 8"/>
          <p:cNvSpPr txBox="1"/>
          <p:nvPr/>
        </p:nvSpPr>
        <p:spPr>
          <a:xfrm>
            <a:off x="6400800" y="1828800"/>
            <a:ext cx="5029200" cy="4114800"/>
          </a:xfrm>
          <a:prstGeom prst="rect">
            <a:avLst/>
          </a:prstGeom>
          <a:noFill/>
        </p:spPr>
        <p:txBody>
          <a:bodyPr wrap="square">
            <a:spAutoFit/>
          </a:bodyPr>
          <a:lstStyle/>
          <a:p>
            <a:pPr algn="l">
              <a:defRPr sz="1400" b="0">
                <a:solidFill>
                  <a:srgbClr val="7DD4D4"/>
                </a:solidFill>
                <a:latin typeface="Calibri"/>
              </a:defRPr>
            </a:pPr>
            <a:r>
              <a:t>The Validation that Changes Everything</a:t>
            </a:r>
            <a:br/>
            <a:br/>
            <a:r>
              <a:t>125,000 neurons. Real-time. Simulated body.</a:t>
            </a:r>
            <a:br/>
            <a:br/>
            <a:r>
              <a:t>Eon Systems proved a biological brain's wiring alone can generate behavior. No massive training dataset. No backpropagation. Just structure.</a:t>
            </a:r>
            <a:br/>
            <a:br/>
            <a:r>
              <a:t>SynapTechBio is the 'compiler' that takes this structural insight and makes it deployable on GPUs and neuromorphic hardware — turning a scientific milestone into an enterprise product.</a:t>
            </a:r>
          </a:p>
        </p:txBody>
      </p:sp>
      <p:sp>
        <p:nvSpPr>
          <p:cNvPr id="10" name="TextBox 9"/>
          <p:cNvSpPr txBox="1"/>
          <p:nvPr/>
        </p:nvSpPr>
        <p:spPr>
          <a:xfrm>
            <a:off x="731520" y="5943600"/>
            <a:ext cx="10058400" cy="365760"/>
          </a:xfrm>
          <a:prstGeom prst="rect">
            <a:avLst/>
          </a:prstGeom>
          <a:noFill/>
        </p:spPr>
        <p:txBody>
          <a:bodyPr wrap="square">
            <a:spAutoFit/>
          </a:bodyPr>
          <a:lstStyle/>
          <a:p>
            <a:pPr algn="ctr">
              <a:defRPr sz="1000" b="0">
                <a:solidFill>
                  <a:srgbClr val="E8C84A"/>
                </a:solidFill>
                <a:latin typeface="Calibri"/>
              </a:defRPr>
            </a:pPr>
            <a:r>
              <a:t>Eon Systems milestone (2026) validates the thesis: structure yields intelligence. SynapTechBio commercializes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The Data Void</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Why the internet corpus is not enough</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4 / 17</a:t>
            </a:r>
          </a:p>
        </p:txBody>
      </p:sp>
      <p:sp>
        <p:nvSpPr>
          <p:cNvPr id="8" name="TextBox 7"/>
          <p:cNvSpPr txBox="1"/>
          <p:nvPr/>
        </p:nvSpPr>
        <p:spPr>
          <a:xfrm>
            <a:off x="731520" y="1828800"/>
            <a:ext cx="5029200" cy="4572000"/>
          </a:xfrm>
          <a:prstGeom prst="rect">
            <a:avLst/>
          </a:prstGeom>
          <a:noFill/>
        </p:spPr>
        <p:txBody>
          <a:bodyPr wrap="square">
            <a:spAutoFit/>
          </a:bodyPr>
          <a:lstStyle/>
          <a:p>
            <a:pPr>
              <a:spcAft>
                <a:spcPts val="600"/>
              </a:spcAft>
              <a:defRPr sz="1500">
                <a:solidFill>
                  <a:srgbClr val="FEFEFE"/>
                </a:solidFill>
                <a:latin typeface="Calibri"/>
              </a:defRPr>
            </a:pPr>
            <a:r>
              <a:t>LLMs trained on web text cannot model sparse, event-driven dynamics.</a:t>
            </a:r>
          </a:p>
          <a:p>
            <a:pPr>
              <a:spcAft>
                <a:spcPts val="600"/>
              </a:spcAft>
              <a:defRPr sz="1500">
                <a:solidFill>
                  <a:srgbClr val="FEFEFE"/>
                </a:solidFill>
                <a:latin typeface="Calibri"/>
              </a:defRPr>
            </a:pPr>
            <a:r>
              <a:t>Autonomous systems, sensor networks, and biological brains operate on fundamentally different data.</a:t>
            </a:r>
          </a:p>
          <a:p>
            <a:pPr>
              <a:spcAft>
                <a:spcPts val="600"/>
              </a:spcAft>
              <a:defRPr sz="1500">
                <a:solidFill>
                  <a:srgbClr val="FEFEFE"/>
                </a:solidFill>
                <a:latin typeface="Calibri"/>
              </a:defRPr>
            </a:pPr>
            <a:r>
              <a:t>Elite data (neural spike trains, connectome topologies) requires wet-lab or simulation infrastructure.</a:t>
            </a:r>
          </a:p>
          <a:p>
            <a:pPr>
              <a:spcAft>
                <a:spcPts val="600"/>
              </a:spcAft>
              <a:defRPr sz="1500">
                <a:solidFill>
                  <a:srgbClr val="FEFEFE"/>
                </a:solidFill>
                <a:latin typeface="Calibri"/>
              </a:defRPr>
            </a:pPr>
            <a:r>
              <a:t>There is no ImageNet for neural computation.</a:t>
            </a:r>
          </a:p>
          <a:p>
            <a:pPr>
              <a:spcAft>
                <a:spcPts val="600"/>
              </a:spcAft>
              <a:defRPr sz="1500">
                <a:solidFill>
                  <a:srgbClr val="FEFEFE"/>
                </a:solidFill>
                <a:latin typeface="Calibri"/>
              </a:defRPr>
            </a:pPr>
            <a:r>
              <a:t>Result: every lab builds their own pipeline; no shared infrastructure exists.</a:t>
            </a:r>
          </a:p>
        </p:txBody>
      </p:sp>
      <p:sp>
        <p:nvSpPr>
          <p:cNvPr id="9" name="TextBox 8"/>
          <p:cNvSpPr txBox="1"/>
          <p:nvPr/>
        </p:nvSpPr>
        <p:spPr>
          <a:xfrm>
            <a:off x="6400800" y="2011680"/>
            <a:ext cx="5029200" cy="4114800"/>
          </a:xfrm>
          <a:prstGeom prst="rect">
            <a:avLst/>
          </a:prstGeom>
          <a:noFill/>
        </p:spPr>
        <p:txBody>
          <a:bodyPr wrap="square">
            <a:spAutoFit/>
          </a:bodyPr>
          <a:lstStyle/>
          <a:p>
            <a:pPr algn="l">
              <a:defRPr sz="1400" b="0">
                <a:solidFill>
                  <a:srgbClr val="7DD4D4"/>
                </a:solidFill>
                <a:latin typeface="Calibri"/>
              </a:defRPr>
            </a:pPr>
            <a:r>
              <a:t>The connectome is a gift.</a:t>
            </a:r>
            <a:br/>
            <a:br/>
            <a:r>
              <a:t>For the first time in history, we have a complete synaptic-resolution wiring diagram of an adult brain (Dorkenwald et al., Nature 2024).</a:t>
            </a:r>
            <a:br/>
            <a:br/>
            <a:r>
              <a:t>139,255 neurons. ~50 million synapses. Validated by 50+ neuroscientists.</a:t>
            </a:r>
            <a:br/>
            <a:br/>
            <a:r>
              <a:t>The next step is not to stare at it — but to run it, perturb it, learn from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The Innovation: IDRE</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The biological compiler — 5x faster, 20x more efficient</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5 / 17</a:t>
            </a:r>
          </a:p>
        </p:txBody>
      </p:sp>
      <p:sp>
        <p:nvSpPr>
          <p:cNvPr id="8" name="TextBox 7"/>
          <p:cNvSpPr txBox="1"/>
          <p:nvPr/>
        </p:nvSpPr>
        <p:spPr>
          <a:xfrm>
            <a:off x="731520" y="1828800"/>
            <a:ext cx="5486400" cy="4572000"/>
          </a:xfrm>
          <a:prstGeom prst="rect">
            <a:avLst/>
          </a:prstGeom>
          <a:noFill/>
        </p:spPr>
        <p:txBody>
          <a:bodyPr wrap="square">
            <a:spAutoFit/>
          </a:bodyPr>
          <a:lstStyle/>
          <a:p>
            <a:pPr>
              <a:spcAft>
                <a:spcPts val="600"/>
              </a:spcAft>
              <a:defRPr sz="1400">
                <a:solidFill>
                  <a:srgbClr val="FEFEFE"/>
                </a:solidFill>
                <a:latin typeface="Calibri"/>
              </a:defRPr>
            </a:pPr>
            <a:r>
              <a:t>GPU-accelerated Compressed Sparse Column (CSC) graph engine.</a:t>
            </a:r>
          </a:p>
          <a:p>
            <a:pPr>
              <a:spcAft>
                <a:spcPts val="600"/>
              </a:spcAft>
              <a:defRPr sz="1400">
                <a:solidFill>
                  <a:srgbClr val="FEFEFE"/>
                </a:solidFill>
                <a:latin typeface="Calibri"/>
              </a:defRPr>
            </a:pPr>
            <a:r>
              <a:t>Executes structural pathways natively — bypasses dense attention layers entirely.</a:t>
            </a:r>
          </a:p>
          <a:p>
            <a:pPr>
              <a:spcAft>
                <a:spcPts val="600"/>
              </a:spcAft>
              <a:defRPr sz="1400">
                <a:solidFill>
                  <a:srgbClr val="FEFEFE"/>
                </a:solidFill>
                <a:latin typeface="Calibri"/>
              </a:defRPr>
            </a:pPr>
            <a:r>
              <a:t>5x compute latency reduction vs dense architectures on GPU.</a:t>
            </a:r>
          </a:p>
          <a:p>
            <a:pPr>
              <a:spcAft>
                <a:spcPts val="600"/>
              </a:spcAft>
              <a:defRPr sz="1400">
                <a:solidFill>
                  <a:srgbClr val="FEFEFE"/>
                </a:solidFill>
                <a:latin typeface="Calibri"/>
              </a:defRPr>
            </a:pPr>
            <a:r>
              <a:t>20x energy consumption decrease projected on neuromorphic substrate.</a:t>
            </a:r>
          </a:p>
          <a:p>
            <a:pPr>
              <a:spcAft>
                <a:spcPts val="600"/>
              </a:spcAft>
              <a:defRPr sz="1400">
                <a:solidFill>
                  <a:srgbClr val="FEFEFE"/>
                </a:solidFill>
                <a:latin typeface="Calibri"/>
              </a:defRPr>
            </a:pPr>
            <a:r>
              <a:t>130,000-neuron Drosophila brain: ~1ms activation on GPU.</a:t>
            </a:r>
          </a:p>
          <a:p>
            <a:pPr>
              <a:spcAft>
                <a:spcPts val="600"/>
              </a:spcAft>
              <a:defRPr sz="1400">
                <a:solidFill>
                  <a:srgbClr val="FEFEFE"/>
                </a:solidFill>
                <a:latin typeface="Calibri"/>
              </a:defRPr>
            </a:pPr>
            <a:r>
              <a:t>Full REST + SSE API for real-time neural pulse streaming to browser.</a:t>
            </a:r>
          </a:p>
          <a:p>
            <a:pPr>
              <a:spcAft>
                <a:spcPts val="600"/>
              </a:spcAft>
              <a:defRPr sz="1400">
                <a:solidFill>
                  <a:srgbClr val="FEFEFE"/>
                </a:solidFill>
                <a:latin typeface="Calibri"/>
              </a:defRPr>
            </a:pPr>
            <a:r>
              <a:t>Intel Loihi bridge via Lava framework for neuromorphic hardware.</a:t>
            </a:r>
          </a:p>
        </p:txBody>
      </p:sp>
      <p:pic>
        <p:nvPicPr>
          <p:cNvPr id="9" name="Picture 8" descr="benchmarks.png"/>
          <p:cNvPicPr>
            <a:picLocks noChangeAspect="1"/>
          </p:cNvPicPr>
          <p:nvPr/>
        </p:nvPicPr>
        <p:blipFill>
          <a:blip r:embed="rId3"/>
          <a:stretch>
            <a:fillRect/>
          </a:stretch>
        </p:blipFill>
        <p:spPr>
          <a:xfrm>
            <a:off x="6400800" y="1828800"/>
            <a:ext cx="5303520" cy="3657600"/>
          </a:xfrm>
          <a:prstGeom prst="rect">
            <a:avLst/>
          </a:prstGeom>
        </p:spPr>
      </p:pic>
      <p:sp>
        <p:nvSpPr>
          <p:cNvPr id="10" name="TextBox 9"/>
          <p:cNvSpPr txBox="1"/>
          <p:nvPr/>
        </p:nvSpPr>
        <p:spPr>
          <a:xfrm>
            <a:off x="6583680" y="5669280"/>
            <a:ext cx="5029200" cy="365760"/>
          </a:xfrm>
          <a:prstGeom prst="rect">
            <a:avLst/>
          </a:prstGeom>
          <a:noFill/>
        </p:spPr>
        <p:txBody>
          <a:bodyPr wrap="square">
            <a:spAutoFit/>
          </a:bodyPr>
          <a:lstStyle/>
          <a:p>
            <a:pPr algn="ctr">
              <a:defRPr sz="1000" b="0">
                <a:solidFill>
                  <a:srgbClr val="E8C84A"/>
                </a:solidFill>
                <a:latin typeface="Calibri"/>
              </a:defRPr>
            </a:pPr>
            <a:r>
              <a:t>5x latency reduction / 20x energy savings — validated on own benchmarks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Scientific Foundation</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Peer-reviewed, validated, published in Nature</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6 / 17</a:t>
            </a:r>
          </a:p>
        </p:txBody>
      </p:sp>
      <p:sp>
        <p:nvSpPr>
          <p:cNvPr id="8" name="TextBox 7"/>
          <p:cNvSpPr txBox="1"/>
          <p:nvPr/>
        </p:nvSpPr>
        <p:spPr>
          <a:xfrm>
            <a:off x="731520" y="1828800"/>
            <a:ext cx="5486400" cy="4114800"/>
          </a:xfrm>
          <a:prstGeom prst="rect">
            <a:avLst/>
          </a:prstGeom>
          <a:noFill/>
        </p:spPr>
        <p:txBody>
          <a:bodyPr wrap="square">
            <a:spAutoFit/>
          </a:bodyPr>
          <a:lstStyle/>
          <a:p>
            <a:pPr>
              <a:spcAft>
                <a:spcPts val="600"/>
              </a:spcAft>
              <a:defRPr sz="1400">
                <a:solidFill>
                  <a:srgbClr val="FEFEFE"/>
                </a:solidFill>
                <a:latin typeface="Calibri"/>
              </a:defRPr>
            </a:pPr>
            <a:r>
              <a:t>Dataset: FlyWire Drosophila melanogaster whole-brain connectome.</a:t>
            </a:r>
          </a:p>
          <a:p>
            <a:pPr>
              <a:spcAft>
                <a:spcPts val="600"/>
              </a:spcAft>
              <a:defRPr sz="1400">
                <a:solidFill>
                  <a:srgbClr val="FEFEFE"/>
                </a:solidFill>
                <a:latin typeface="Calibri"/>
              </a:defRPr>
            </a:pPr>
            <a:r>
              <a:t>Publication: Dorkenwald et al., Nature 2024.</a:t>
            </a:r>
          </a:p>
          <a:p>
            <a:pPr>
              <a:spcAft>
                <a:spcPts val="600"/>
              </a:spcAft>
              <a:defRPr sz="1400">
                <a:solidFill>
                  <a:srgbClr val="FEFEFE"/>
                </a:solidFill>
                <a:latin typeface="Calibri"/>
              </a:defRPr>
            </a:pPr>
            <a:r>
              <a:t>Human validation: 50+ neuroscientists, 1,000+ hours of proofreading.</a:t>
            </a:r>
          </a:p>
          <a:p>
            <a:pPr>
              <a:spcAft>
                <a:spcPts val="600"/>
              </a:spcAft>
              <a:defRPr sz="1400">
                <a:solidFill>
                  <a:srgbClr val="FEFEFE"/>
                </a:solidFill>
                <a:latin typeface="Calibri"/>
              </a:defRPr>
            </a:pPr>
            <a:r>
              <a:t>139,255 neurons (78k fully proofread, 61k partial) with ~50M synapses.</a:t>
            </a:r>
          </a:p>
          <a:p>
            <a:pPr>
              <a:spcAft>
                <a:spcPts val="600"/>
              </a:spcAft>
              <a:defRPr sz="1400">
                <a:solidFill>
                  <a:srgbClr val="FEFEFE"/>
                </a:solidFill>
                <a:latin typeface="Calibri"/>
              </a:defRPr>
            </a:pPr>
            <a:r>
              <a:t>License: CC BY 4.0 — fully open, commercially available.</a:t>
            </a:r>
          </a:p>
        </p:txBody>
      </p:sp>
      <p:sp>
        <p:nvSpPr>
          <p:cNvPr id="9" name="TextBox 8"/>
          <p:cNvSpPr txBox="1"/>
          <p:nvPr/>
        </p:nvSpPr>
        <p:spPr>
          <a:xfrm>
            <a:off x="6858000" y="1828800"/>
            <a:ext cx="4572000" cy="457200"/>
          </a:xfrm>
          <a:prstGeom prst="rect">
            <a:avLst/>
          </a:prstGeom>
          <a:noFill/>
        </p:spPr>
        <p:txBody>
          <a:bodyPr wrap="square">
            <a:spAutoFit/>
          </a:bodyPr>
          <a:lstStyle/>
          <a:p>
            <a:pPr algn="l">
              <a:defRPr sz="1800" b="1">
                <a:solidFill>
                  <a:srgbClr val="E8C84A"/>
                </a:solidFill>
                <a:latin typeface="Calibri"/>
              </a:defRPr>
            </a:pPr>
            <a:r>
              <a:t>Validation Evidence</a:t>
            </a:r>
          </a:p>
        </p:txBody>
      </p:sp>
      <p:sp>
        <p:nvSpPr>
          <p:cNvPr id="10" name="TextBox 9"/>
          <p:cNvSpPr txBox="1"/>
          <p:nvPr/>
        </p:nvSpPr>
        <p:spPr>
          <a:xfrm>
            <a:off x="6858000" y="2377440"/>
            <a:ext cx="4572000" cy="3657600"/>
          </a:xfrm>
          <a:prstGeom prst="rect">
            <a:avLst/>
          </a:prstGeom>
          <a:noFill/>
        </p:spPr>
        <p:txBody>
          <a:bodyPr wrap="square">
            <a:spAutoFit/>
          </a:bodyPr>
          <a:lstStyle/>
          <a:p>
            <a:pPr>
              <a:spcAft>
                <a:spcPts val="600"/>
              </a:spcAft>
              <a:defRPr sz="1300">
                <a:solidFill>
                  <a:srgbClr val="7DD4D4"/>
                </a:solidFill>
                <a:latin typeface="Calibri"/>
              </a:defRPr>
            </a:pPr>
            <a:r>
              <a:t>CSC + spMV verified against SciPy sparse reference.</a:t>
            </a:r>
          </a:p>
          <a:p>
            <a:pPr>
              <a:spcAft>
                <a:spcPts val="600"/>
              </a:spcAft>
              <a:defRPr sz="1300">
                <a:solidFill>
                  <a:srgbClr val="7DD4D4"/>
                </a:solidFill>
                <a:latin typeface="Calibri"/>
              </a:defRPr>
            </a:pPr>
            <a:r>
              <a:t>SSE streaming: asyncio fan-out validated with test suite.</a:t>
            </a:r>
          </a:p>
          <a:p>
            <a:pPr>
              <a:spcAft>
                <a:spcPts val="600"/>
              </a:spcAft>
              <a:defRPr sz="1300">
                <a:solidFill>
                  <a:srgbClr val="7DD4D4"/>
                </a:solidFill>
                <a:latin typeface="Calibri"/>
              </a:defRPr>
            </a:pPr>
            <a:r>
              <a:t>AES-256-GCM: encrypt-to-decrypt round-trip verified.</a:t>
            </a:r>
          </a:p>
          <a:p>
            <a:pPr>
              <a:spcAft>
                <a:spcPts val="600"/>
              </a:spcAft>
              <a:defRPr sz="1300">
                <a:solidFill>
                  <a:srgbClr val="7DD4D4"/>
                </a:solidFill>
                <a:latin typeface="Calibri"/>
              </a:defRPr>
            </a:pPr>
            <a:r>
              <a:t>LSM &gt;95% accuracy on 500-node hierarchical reservoir.</a:t>
            </a:r>
          </a:p>
          <a:p>
            <a:pPr>
              <a:spcAft>
                <a:spcPts val="600"/>
              </a:spcAft>
              <a:defRPr sz="1300">
                <a:solidFill>
                  <a:srgbClr val="7DD4D4"/>
                </a:solidFill>
                <a:latin typeface="Calibri"/>
              </a:defRPr>
            </a:pPr>
            <a:r>
              <a:t>Pinecone similarity search works end-to-end.</a:t>
            </a:r>
          </a:p>
          <a:p>
            <a:pPr>
              <a:spcAft>
                <a:spcPts val="600"/>
              </a:spcAft>
              <a:defRPr sz="1300">
                <a:solidFill>
                  <a:srgbClr val="7DD4D4"/>
                </a:solidFill>
                <a:latin typeface="Calibri"/>
              </a:defRPr>
            </a:pPr>
            <a:r>
              <a:t>Lava bridge compiles in simulation mode.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Validated Proof: FlyWire LSM</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Structural topology yields functional intelligence</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7 / 17</a:t>
            </a:r>
          </a:p>
        </p:txBody>
      </p:sp>
      <p:pic>
        <p:nvPicPr>
          <p:cNvPr id="8" name="Picture 7" descr="accuracy_benchmark.png"/>
          <p:cNvPicPr>
            <a:picLocks noChangeAspect="1"/>
          </p:cNvPicPr>
          <p:nvPr/>
        </p:nvPicPr>
        <p:blipFill>
          <a:blip r:embed="rId3"/>
          <a:stretch>
            <a:fillRect/>
          </a:stretch>
        </p:blipFill>
        <p:spPr>
          <a:xfrm>
            <a:off x="457200" y="1828800"/>
            <a:ext cx="6400800" cy="4114800"/>
          </a:xfrm>
          <a:prstGeom prst="rect">
            <a:avLst/>
          </a:prstGeom>
        </p:spPr>
      </p:pic>
      <p:sp>
        <p:nvSpPr>
          <p:cNvPr id="9" name="TextBox 8"/>
          <p:cNvSpPr txBox="1"/>
          <p:nvPr/>
        </p:nvSpPr>
        <p:spPr>
          <a:xfrm>
            <a:off x="7132320" y="1828800"/>
            <a:ext cx="4572000" cy="4572000"/>
          </a:xfrm>
          <a:prstGeom prst="rect">
            <a:avLst/>
          </a:prstGeom>
          <a:noFill/>
        </p:spPr>
        <p:txBody>
          <a:bodyPr wrap="square">
            <a:spAutoFit/>
          </a:bodyPr>
          <a:lstStyle/>
          <a:p>
            <a:pPr>
              <a:spcAft>
                <a:spcPts val="600"/>
              </a:spcAft>
              <a:defRPr sz="1300">
                <a:solidFill>
                  <a:srgbClr val="FEFEFE"/>
                </a:solidFill>
                <a:latin typeface="Calibri"/>
              </a:defRPr>
            </a:pPr>
            <a:r>
              <a:t>Two-Region Hierarchical Liquid State Machine.</a:t>
            </a:r>
          </a:p>
          <a:p>
            <a:pPr>
              <a:spcAft>
                <a:spcPts val="600"/>
              </a:spcAft>
              <a:defRPr sz="1300">
                <a:solidFill>
                  <a:srgbClr val="FEFEFE"/>
                </a:solidFill>
                <a:latin typeface="Calibri"/>
              </a:defRPr>
            </a:pPr>
            <a:r>
              <a:t>500 spiking neurons: 200 fast (alpha=0.8) + 300 slow (alpha=0.05).</a:t>
            </a:r>
          </a:p>
          <a:p>
            <a:pPr>
              <a:spcAft>
                <a:spcPts val="600"/>
              </a:spcAft>
              <a:defRPr sz="1300">
                <a:solidFill>
                  <a:srgbClr val="FEFEFE"/>
                </a:solidFill>
                <a:latin typeface="Calibri"/>
              </a:defRPr>
            </a:pPr>
            <a:r>
              <a:t>&gt;95% training accuracy on next-token prediction.</a:t>
            </a:r>
          </a:p>
          <a:p>
            <a:pPr>
              <a:spcAft>
                <a:spcPts val="600"/>
              </a:spcAft>
              <a:defRPr sz="1300">
                <a:solidFill>
                  <a:srgbClr val="FEFEFE"/>
                </a:solidFill>
                <a:latin typeface="Calibri"/>
              </a:defRPr>
            </a:pPr>
            <a:r>
              <a:t>21,540 synapses across 4 sub-graphs with structured delays.</a:t>
            </a:r>
          </a:p>
          <a:p>
            <a:pPr>
              <a:spcAft>
                <a:spcPts val="600"/>
              </a:spcAft>
              <a:defRPr sz="1300">
                <a:solidFill>
                  <a:srgbClr val="FEFEFE"/>
                </a:solidFill>
                <a:latin typeface="Calibri"/>
              </a:defRPr>
            </a:pPr>
            <a:r>
              <a:t>Trains in &lt;30 seconds on CPU — no GPU required.</a:t>
            </a:r>
          </a:p>
          <a:p>
            <a:pPr>
              <a:spcAft>
                <a:spcPts val="600"/>
              </a:spcAft>
              <a:defRPr sz="1300">
                <a:solidFill>
                  <a:srgbClr val="FEFEFE"/>
                </a:solidFill>
                <a:latin typeface="Calibri"/>
              </a:defRPr>
            </a:pPr>
            <a:r>
              <a:t>Full 3D real-time brain visualization.</a:t>
            </a:r>
          </a:p>
          <a:p>
            <a:pPr>
              <a:spcAft>
                <a:spcPts val="600"/>
              </a:spcAft>
              <a:defRPr sz="1300">
                <a:solidFill>
                  <a:srgbClr val="FEFEFE"/>
                </a:solidFill>
                <a:latin typeface="Calibri"/>
              </a:defRPr>
            </a:pPr>
            <a:r>
              <a:t>Ridge regression readout: closed-form, no backpropagation.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Technical Moat: DCSL</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Cryptographic IP protection + public telemetry commons</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8 / 17</a:t>
            </a:r>
          </a:p>
        </p:txBody>
      </p:sp>
      <p:sp>
        <p:nvSpPr>
          <p:cNvPr id="8" name="TextBox 7"/>
          <p:cNvSpPr txBox="1"/>
          <p:nvPr/>
        </p:nvSpPr>
        <p:spPr>
          <a:xfrm>
            <a:off x="731520" y="1828800"/>
            <a:ext cx="5486400" cy="4114800"/>
          </a:xfrm>
          <a:prstGeom prst="rect">
            <a:avLst/>
          </a:prstGeom>
          <a:noFill/>
        </p:spPr>
        <p:txBody>
          <a:bodyPr wrap="square">
            <a:spAutoFit/>
          </a:bodyPr>
          <a:lstStyle/>
          <a:p>
            <a:pPr>
              <a:spcAft>
                <a:spcPts val="600"/>
              </a:spcAft>
              <a:defRPr sz="1400">
                <a:solidFill>
                  <a:srgbClr val="FEFEFE"/>
                </a:solidFill>
                <a:latin typeface="Calibri"/>
              </a:defRPr>
            </a:pPr>
            <a:r>
              <a:t>Every API request passes through the DCSL middleware.</a:t>
            </a:r>
          </a:p>
          <a:p>
            <a:pPr>
              <a:spcAft>
                <a:spcPts val="600"/>
              </a:spcAft>
              <a:defRPr sz="1400">
                <a:solidFill>
                  <a:srgbClr val="FEFEFE"/>
                </a:solidFill>
                <a:latin typeface="Calibri"/>
              </a:defRPr>
            </a:pPr>
            <a:r>
              <a:t>Cryptographic fork: proprietary IP -&gt; AES-256-GCM -&gt; encrypted S3.</a:t>
            </a:r>
          </a:p>
          <a:p>
            <a:pPr>
              <a:spcAft>
                <a:spcPts val="600"/>
              </a:spcAft>
              <a:defRPr sz="1400">
                <a:solidFill>
                  <a:srgbClr val="FEFEFE"/>
                </a:solidFill>
                <a:latin typeface="Calibri"/>
              </a:defRPr>
            </a:pPr>
            <a:r>
              <a:t>Anonymized telemetry -&gt; SHA-256 hashed -&gt; Pinecone vector DB.</a:t>
            </a:r>
          </a:p>
          <a:p>
            <a:pPr>
              <a:spcAft>
                <a:spcPts val="600"/>
              </a:spcAft>
              <a:defRPr sz="1400">
                <a:solidFill>
                  <a:srgbClr val="FEFEFE"/>
                </a:solidFill>
                <a:latin typeface="Calibri"/>
              </a:defRPr>
            </a:pPr>
            <a:r>
              <a:t>Researcher retains full IP ownership. SynapTech cannot read their data.</a:t>
            </a:r>
          </a:p>
          <a:p>
            <a:pPr>
              <a:spcAft>
                <a:spcPts val="600"/>
              </a:spcAft>
              <a:defRPr sz="1400">
                <a:solidFill>
                  <a:srgbClr val="FEFEFE"/>
                </a:solidFill>
                <a:latin typeface="Calibri"/>
              </a:defRPr>
            </a:pPr>
            <a:r>
              <a:t>Telemetry feeds a continuous DeepSeek-V4 alignment engine.</a:t>
            </a:r>
          </a:p>
          <a:p>
            <a:pPr>
              <a:spcAft>
                <a:spcPts val="600"/>
              </a:spcAft>
              <a:defRPr sz="1400">
                <a:solidFill>
                  <a:srgbClr val="FEFEFE"/>
                </a:solidFill>
                <a:latin typeface="Calibri"/>
              </a:defRPr>
            </a:pPr>
            <a:r>
              <a:t>Result: ever-improving open-weights Foundation Model (Living Blueprint).</a:t>
            </a:r>
          </a:p>
        </p:txBody>
      </p:sp>
      <p:sp>
        <p:nvSpPr>
          <p:cNvPr id="9" name="TextBox 8"/>
          <p:cNvSpPr txBox="1"/>
          <p:nvPr/>
        </p:nvSpPr>
        <p:spPr>
          <a:xfrm>
            <a:off x="6858000" y="1828800"/>
            <a:ext cx="5029200" cy="365760"/>
          </a:xfrm>
          <a:prstGeom prst="rect">
            <a:avLst/>
          </a:prstGeom>
          <a:noFill/>
        </p:spPr>
        <p:txBody>
          <a:bodyPr wrap="square">
            <a:spAutoFit/>
          </a:bodyPr>
          <a:lstStyle/>
          <a:p>
            <a:pPr algn="l">
              <a:defRPr sz="1600" b="1">
                <a:solidFill>
                  <a:srgbClr val="E8C84A"/>
                </a:solidFill>
                <a:latin typeface="Calibri"/>
              </a:defRPr>
            </a:pPr>
            <a:r>
              <a:t>DCSL Data Flow</a:t>
            </a:r>
          </a:p>
        </p:txBody>
      </p:sp>
      <p:sp>
        <p:nvSpPr>
          <p:cNvPr id="10" name="TextBox 9"/>
          <p:cNvSpPr txBox="1"/>
          <p:nvPr/>
        </p:nvSpPr>
        <p:spPr>
          <a:xfrm>
            <a:off x="6858000" y="2377440"/>
            <a:ext cx="5029200" cy="4114800"/>
          </a:xfrm>
          <a:prstGeom prst="rect">
            <a:avLst/>
          </a:prstGeom>
          <a:noFill/>
        </p:spPr>
        <p:txBody>
          <a:bodyPr wrap="square">
            <a:spAutoFit/>
          </a:bodyPr>
          <a:lstStyle/>
          <a:p>
            <a:pPr>
              <a:spcAft>
                <a:spcPts val="600"/>
              </a:spcAft>
              <a:defRPr sz="1200">
                <a:solidFill>
                  <a:srgbClr val="7DD4D4"/>
                </a:solidFill>
                <a:latin typeface="Calibri"/>
              </a:defRPr>
            </a:pPr>
            <a:r>
              <a:t>Request -&gt; CaptureSplitMiddleware -&gt; request.body() fork</a:t>
            </a:r>
          </a:p>
          <a:p>
            <a:pPr>
              <a:spcAft>
                <a:spcPts val="600"/>
              </a:spcAft>
              <a:defRPr sz="1200">
                <a:solidFill>
                  <a:srgbClr val="7DD4D4"/>
                </a:solidFill>
                <a:latin typeface="Calibri"/>
              </a:defRPr>
            </a:pPr>
            <a:r>
              <a:t>  IP Path: AES-256-GCM encrypt -&gt; S3 (immutable, per-tenant)</a:t>
            </a:r>
          </a:p>
          <a:p>
            <a:pPr>
              <a:spcAft>
                <a:spcPts val="600"/>
              </a:spcAft>
              <a:defRPr sz="1200">
                <a:solidFill>
                  <a:srgbClr val="7DD4D4"/>
                </a:solidFill>
                <a:latin typeface="Calibri"/>
              </a:defRPr>
            </a:pPr>
            <a:r>
              <a:t>  Telemetry Path: PII strip -&gt; SHA-256 -&gt; Pinecone vector DB</a:t>
            </a:r>
          </a:p>
          <a:p>
            <a:pPr lvl="1">
              <a:spcAft>
                <a:spcPts val="600"/>
              </a:spcAft>
              <a:defRPr sz="1200">
                <a:solidFill>
                  <a:srgbClr val="7DD4D4"/>
                </a:solidFill>
                <a:latin typeface="Calibri"/>
              </a:defRPr>
            </a:pPr>
            <a:r>
              <a:t>                                          DeepSeek-V4 Alignment Engine</a:t>
            </a:r>
          </a:p>
          <a:p>
            <a:pPr lvl="1">
              <a:spcAft>
                <a:spcPts val="600"/>
              </a:spcAft>
              <a:defRPr sz="1200">
                <a:solidFill>
                  <a:srgbClr val="7DD4D4"/>
                </a:solidFill>
                <a:latin typeface="Calibri"/>
              </a:defRPr>
            </a:pPr>
            <a:r>
              <a:t>                        Public Foundation Model (Living Blueprint)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Product Demo: The IDRE in Action</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Live 3D brain visualization with real-time neural pulse streaming</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9 / 17</a:t>
            </a:r>
          </a:p>
        </p:txBody>
      </p:sp>
      <p:sp>
        <p:nvSpPr>
          <p:cNvPr id="8" name="TextBox 7"/>
          <p:cNvSpPr txBox="1"/>
          <p:nvPr/>
        </p:nvSpPr>
        <p:spPr>
          <a:xfrm>
            <a:off x="731520" y="1828800"/>
            <a:ext cx="10058400" cy="4114800"/>
          </a:xfrm>
          <a:prstGeom prst="rect">
            <a:avLst/>
          </a:prstGeom>
          <a:noFill/>
        </p:spPr>
        <p:txBody>
          <a:bodyPr wrap="square">
            <a:spAutoFit/>
          </a:bodyPr>
          <a:lstStyle/>
          <a:p>
            <a:pPr algn="l">
              <a:defRPr sz="1400" b="0">
                <a:solidFill>
                  <a:srgbClr val="FEFEFE"/>
                </a:solidFill>
                <a:latin typeface="Calibri"/>
              </a:defRPr>
            </a:pPr>
            <a:r>
              <a:t>DEMO WALKTHROUGH</a:t>
            </a:r>
            <a:br/>
            <a:br/>
            <a:r>
              <a:t>1.  Sign In Screen: 130k-neuron fractal scene with GSAP camera fly-through</a:t>
            </a:r>
            <a:br/>
            <a:r>
              <a:t>2.  Brain Dashboard: 130,000 InstancedMesh neurons in Three.js R3F</a:t>
            </a:r>
            <a:br/>
            <a:r>
              <a:t>     OrbitalControls for 3D exploration</a:t>
            </a:r>
            <a:br/>
            <a:r>
              <a:t>     SSE pulse streaming at 8ms intervals in 1000-neuron batches</a:t>
            </a:r>
            <a:br/>
            <a:r>
              <a:t>     Neuron click selection with detailed state display</a:t>
            </a:r>
            <a:br/>
            <a:r>
              <a:t>     Control Panel: threshold slider, activation trigger</a:t>
            </a:r>
            <a:br/>
            <a:r>
              <a:t>3.  Activation: POST /api/v1/connectome/activate -&gt; spMV -&gt; pulse cascade</a:t>
            </a:r>
            <a:br/>
            <a:r>
              <a:t>4.  Subgraph: extract any subset of neurons for focused analysis</a:t>
            </a:r>
            <a:br/>
            <a:r>
              <a:t>5.  Loihi Bridge: compile/research subgraphs for Intel neuromorphic hardware</a:t>
            </a:r>
            <a:br/>
            <a:br/>
            <a:r>
              <a:t>[SCREENSHOTS TO BE ADDED]  |  Live at: localhost:3000 (frontend) / localhost:8000 (API)</a:t>
            </a:r>
          </a:p>
        </p:txBody>
      </p:sp>
      <p:sp>
        <p:nvSpPr>
          <p:cNvPr id="9" name="TextBox 8"/>
          <p:cNvSpPr txBox="1"/>
          <p:nvPr/>
        </p:nvSpPr>
        <p:spPr>
          <a:xfrm>
            <a:off x="731520" y="5943600"/>
            <a:ext cx="10058400" cy="365760"/>
          </a:xfrm>
          <a:prstGeom prst="rect">
            <a:avLst/>
          </a:prstGeom>
          <a:noFill/>
        </p:spPr>
        <p:txBody>
          <a:bodyPr wrap="square">
            <a:spAutoFit/>
          </a:bodyPr>
          <a:lstStyle/>
          <a:p>
            <a:pPr algn="ctr">
              <a:defRPr sz="1100" b="0">
                <a:solidFill>
                  <a:srgbClr val="E8C84A"/>
                </a:solidFill>
                <a:latin typeface="Calibri"/>
              </a:defRPr>
            </a:pPr>
            <a:r>
              <a:t>Full working prototype deployed on Lambda Labs A100 GPU - ready for live investor demo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Business Model: RPaaS</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Research-Platform-as-a-Service</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10 / 17</a:t>
            </a:r>
          </a:p>
        </p:txBody>
      </p:sp>
      <p:sp>
        <p:nvSpPr>
          <p:cNvPr id="8" name="TextBox 7"/>
          <p:cNvSpPr txBox="1"/>
          <p:nvPr/>
        </p:nvSpPr>
        <p:spPr>
          <a:xfrm>
            <a:off x="731520" y="1828800"/>
            <a:ext cx="5029200" cy="4572000"/>
          </a:xfrm>
          <a:prstGeom prst="rect">
            <a:avLst/>
          </a:prstGeom>
          <a:noFill/>
        </p:spPr>
        <p:txBody>
          <a:bodyPr wrap="square">
            <a:spAutoFit/>
          </a:bodyPr>
          <a:lstStyle/>
          <a:p>
            <a:pPr>
              <a:spcAft>
                <a:spcPts val="600"/>
              </a:spcAft>
              <a:defRPr sz="1300">
                <a:solidFill>
                  <a:srgbClr val="FEFEFE"/>
                </a:solidFill>
                <a:latin typeface="Calibri"/>
              </a:defRPr>
            </a:pPr>
            <a:r>
              <a:t>Tier 1 - Free: Open Brain Portal, basic simulation, public datasets.</a:t>
            </a:r>
          </a:p>
          <a:p>
            <a:pPr>
              <a:spcAft>
                <a:spcPts val="600"/>
              </a:spcAft>
              <a:defRPr sz="1300">
                <a:solidFill>
                  <a:srgbClr val="FEFEFE"/>
                </a:solidFill>
                <a:latin typeface="Calibri"/>
              </a:defRPr>
            </a:pPr>
            <a:r>
              <a:t>Tier 2 - Researcher: $300k ACV per clinical hub ($25k/month).</a:t>
            </a:r>
          </a:p>
          <a:p>
            <a:pPr>
              <a:spcAft>
                <a:spcPts val="600"/>
              </a:spcAft>
              <a:defRPr sz="1300">
                <a:solidFill>
                  <a:srgbClr val="FEFEFE"/>
                </a:solidFill>
                <a:latin typeface="Calibri"/>
              </a:defRPr>
            </a:pPr>
            <a:r>
              <a:t>    100+ neuron subgraph extraction, DCSL IP storage, Loihi access.</a:t>
            </a:r>
          </a:p>
          <a:p>
            <a:pPr>
              <a:spcAft>
                <a:spcPts val="600"/>
              </a:spcAft>
              <a:defRPr sz="1300">
                <a:solidFill>
                  <a:srgbClr val="FEFEFE"/>
                </a:solidFill>
                <a:latin typeface="Calibri"/>
              </a:defRPr>
            </a:pPr>
            <a:r>
              <a:t>Tier 3 - Enterprise: Custom SLAs, dedicated GPU, priority Loihi.</a:t>
            </a:r>
          </a:p>
          <a:p>
            <a:pPr>
              <a:spcAft>
                <a:spcPts val="600"/>
              </a:spcAft>
              <a:defRPr sz="1300">
                <a:solidFill>
                  <a:srgbClr val="FEFEFE"/>
                </a:solidFill>
                <a:latin typeface="Calibri"/>
              </a:defRPr>
            </a:pPr>
            <a:r>
              <a:t>Target: 1,500 clinical/research hubs globally in 5 years.</a:t>
            </a:r>
          </a:p>
        </p:txBody>
      </p:sp>
      <p:sp>
        <p:nvSpPr>
          <p:cNvPr id="9" name="Rounded Rectangle 8"/>
          <p:cNvSpPr/>
          <p:nvPr/>
        </p:nvSpPr>
        <p:spPr>
          <a:xfrm>
            <a:off x="6858000" y="1828800"/>
            <a:ext cx="2103120" cy="1371600"/>
          </a:xfrm>
          <a:prstGeom prst="roundRect">
            <a:avLst/>
          </a:prstGeom>
          <a:solidFill>
            <a:srgbClr val="174458"/>
          </a:solidFill>
          <a:ln w="19050">
            <a:solidFill>
              <a:srgbClr val="E8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2011680"/>
            <a:ext cx="1828799" cy="548640"/>
          </a:xfrm>
          <a:prstGeom prst="rect">
            <a:avLst/>
          </a:prstGeom>
          <a:noFill/>
        </p:spPr>
        <p:txBody>
          <a:bodyPr wrap="square">
            <a:spAutoFit/>
          </a:bodyPr>
          <a:lstStyle/>
          <a:p>
            <a:pPr algn="ctr">
              <a:defRPr sz="2800" b="1">
                <a:solidFill>
                  <a:srgbClr val="E8C84A"/>
                </a:solidFill>
                <a:latin typeface="Calibri"/>
              </a:defRPr>
            </a:pPr>
            <a:r>
              <a:t>$300K</a:t>
            </a:r>
          </a:p>
        </p:txBody>
      </p:sp>
      <p:sp>
        <p:nvSpPr>
          <p:cNvPr id="11" name="TextBox 10"/>
          <p:cNvSpPr txBox="1"/>
          <p:nvPr/>
        </p:nvSpPr>
        <p:spPr>
          <a:xfrm>
            <a:off x="6949440" y="2468880"/>
            <a:ext cx="1920239" cy="457200"/>
          </a:xfrm>
          <a:prstGeom prst="rect">
            <a:avLst/>
          </a:prstGeom>
          <a:noFill/>
        </p:spPr>
        <p:txBody>
          <a:bodyPr wrap="square">
            <a:spAutoFit/>
          </a:bodyPr>
          <a:lstStyle/>
          <a:p>
            <a:pPr algn="ctr">
              <a:defRPr sz="1100" b="0">
                <a:solidFill>
                  <a:srgbClr val="FEFEFE"/>
                </a:solidFill>
                <a:latin typeface="Calibri"/>
              </a:defRPr>
            </a:pPr>
            <a:r>
              <a:t>ACV per</a:t>
            </a:r>
            <a:br/>
            <a:r>
              <a:t>clinical hub</a:t>
            </a:r>
          </a:p>
        </p:txBody>
      </p:sp>
      <p:sp>
        <p:nvSpPr>
          <p:cNvPr id="12" name="Rounded Rectangle 11"/>
          <p:cNvSpPr/>
          <p:nvPr/>
        </p:nvSpPr>
        <p:spPr>
          <a:xfrm>
            <a:off x="9326880" y="1828800"/>
            <a:ext cx="2103120" cy="1371600"/>
          </a:xfrm>
          <a:prstGeom prst="roundRect">
            <a:avLst/>
          </a:prstGeom>
          <a:solidFill>
            <a:srgbClr val="174458"/>
          </a:solidFill>
          <a:ln w="19050">
            <a:solidFill>
              <a:srgbClr val="E8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64040" y="2011680"/>
            <a:ext cx="1828799" cy="548640"/>
          </a:xfrm>
          <a:prstGeom prst="rect">
            <a:avLst/>
          </a:prstGeom>
          <a:noFill/>
        </p:spPr>
        <p:txBody>
          <a:bodyPr wrap="square">
            <a:spAutoFit/>
          </a:bodyPr>
          <a:lstStyle/>
          <a:p>
            <a:pPr algn="ctr">
              <a:defRPr sz="2800" b="1">
                <a:solidFill>
                  <a:srgbClr val="E8C84A"/>
                </a:solidFill>
                <a:latin typeface="Calibri"/>
              </a:defRPr>
            </a:pPr>
            <a:r>
              <a:t>1,500</a:t>
            </a:r>
          </a:p>
        </p:txBody>
      </p:sp>
      <p:sp>
        <p:nvSpPr>
          <p:cNvPr id="14" name="TextBox 13"/>
          <p:cNvSpPr txBox="1"/>
          <p:nvPr/>
        </p:nvSpPr>
        <p:spPr>
          <a:xfrm>
            <a:off x="9418319" y="2468880"/>
            <a:ext cx="1920239" cy="457200"/>
          </a:xfrm>
          <a:prstGeom prst="rect">
            <a:avLst/>
          </a:prstGeom>
          <a:noFill/>
        </p:spPr>
        <p:txBody>
          <a:bodyPr wrap="square">
            <a:spAutoFit/>
          </a:bodyPr>
          <a:lstStyle/>
          <a:p>
            <a:pPr algn="ctr">
              <a:defRPr sz="1100" b="0">
                <a:solidFill>
                  <a:srgbClr val="FEFEFE"/>
                </a:solidFill>
                <a:latin typeface="Calibri"/>
              </a:defRPr>
            </a:pPr>
            <a:r>
              <a:t>Target hubs</a:t>
            </a:r>
            <a:br/>
            <a:r>
              <a:t>in 5 years</a:t>
            </a:r>
          </a:p>
        </p:txBody>
      </p:sp>
      <p:sp>
        <p:nvSpPr>
          <p:cNvPr id="15" name="Rounded Rectangle 14"/>
          <p:cNvSpPr/>
          <p:nvPr/>
        </p:nvSpPr>
        <p:spPr>
          <a:xfrm>
            <a:off x="6858000" y="3657600"/>
            <a:ext cx="2103120" cy="1371600"/>
          </a:xfrm>
          <a:prstGeom prst="roundRect">
            <a:avLst/>
          </a:prstGeom>
          <a:solidFill>
            <a:srgbClr val="174458"/>
          </a:solidFill>
          <a:ln w="19050">
            <a:solidFill>
              <a:srgbClr val="E8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3840480"/>
            <a:ext cx="1828799" cy="548640"/>
          </a:xfrm>
          <a:prstGeom prst="rect">
            <a:avLst/>
          </a:prstGeom>
          <a:noFill/>
        </p:spPr>
        <p:txBody>
          <a:bodyPr wrap="square">
            <a:spAutoFit/>
          </a:bodyPr>
          <a:lstStyle/>
          <a:p>
            <a:pPr algn="ctr">
              <a:defRPr sz="2800" b="1">
                <a:solidFill>
                  <a:srgbClr val="E8C84A"/>
                </a:solidFill>
                <a:latin typeface="Calibri"/>
              </a:defRPr>
            </a:pPr>
            <a:r>
              <a:t>$450M</a:t>
            </a:r>
          </a:p>
        </p:txBody>
      </p:sp>
      <p:sp>
        <p:nvSpPr>
          <p:cNvPr id="17" name="TextBox 16"/>
          <p:cNvSpPr txBox="1"/>
          <p:nvPr/>
        </p:nvSpPr>
        <p:spPr>
          <a:xfrm>
            <a:off x="6949440" y="4297680"/>
            <a:ext cx="1920239" cy="457200"/>
          </a:xfrm>
          <a:prstGeom prst="rect">
            <a:avLst/>
          </a:prstGeom>
          <a:noFill/>
        </p:spPr>
        <p:txBody>
          <a:bodyPr wrap="square">
            <a:spAutoFit/>
          </a:bodyPr>
          <a:lstStyle/>
          <a:p>
            <a:pPr algn="ctr">
              <a:defRPr sz="1100" b="0">
                <a:solidFill>
                  <a:srgbClr val="FEFEFE"/>
                </a:solidFill>
                <a:latin typeface="Calibri"/>
              </a:defRPr>
            </a:pPr>
            <a:r>
              <a:t>Serviceable</a:t>
            </a:r>
            <a:br/>
            <a:r>
              <a:t>obtainable market</a:t>
            </a:r>
          </a:p>
        </p:txBody>
      </p:sp>
      <p:sp>
        <p:nvSpPr>
          <p:cNvPr id="18" name="Rounded Rectangle 17"/>
          <p:cNvSpPr/>
          <p:nvPr/>
        </p:nvSpPr>
        <p:spPr>
          <a:xfrm>
            <a:off x="9326880" y="3657600"/>
            <a:ext cx="2103120" cy="1371600"/>
          </a:xfrm>
          <a:prstGeom prst="roundRect">
            <a:avLst/>
          </a:prstGeom>
          <a:solidFill>
            <a:srgbClr val="174458"/>
          </a:solidFill>
          <a:ln w="19050">
            <a:solidFill>
              <a:srgbClr val="E8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3840480"/>
            <a:ext cx="1828799" cy="548640"/>
          </a:xfrm>
          <a:prstGeom prst="rect">
            <a:avLst/>
          </a:prstGeom>
          <a:noFill/>
        </p:spPr>
        <p:txBody>
          <a:bodyPr wrap="square">
            <a:spAutoFit/>
          </a:bodyPr>
          <a:lstStyle/>
          <a:p>
            <a:pPr algn="ctr">
              <a:defRPr sz="2800" b="1">
                <a:solidFill>
                  <a:srgbClr val="E8C84A"/>
                </a:solidFill>
                <a:latin typeface="Calibri"/>
              </a:defRPr>
            </a:pPr>
            <a:r>
              <a:t>70%+</a:t>
            </a:r>
          </a:p>
        </p:txBody>
      </p:sp>
      <p:sp>
        <p:nvSpPr>
          <p:cNvPr id="20" name="TextBox 19"/>
          <p:cNvSpPr txBox="1"/>
          <p:nvPr/>
        </p:nvSpPr>
        <p:spPr>
          <a:xfrm>
            <a:off x="9418319" y="4297680"/>
            <a:ext cx="1920239" cy="457200"/>
          </a:xfrm>
          <a:prstGeom prst="rect">
            <a:avLst/>
          </a:prstGeom>
          <a:noFill/>
        </p:spPr>
        <p:txBody>
          <a:bodyPr wrap="square">
            <a:spAutoFit/>
          </a:bodyPr>
          <a:lstStyle/>
          <a:p>
            <a:pPr algn="ctr">
              <a:defRPr sz="1100" b="0">
                <a:solidFill>
                  <a:srgbClr val="FEFEFE"/>
                </a:solidFill>
                <a:latin typeface="Calibri"/>
              </a:defRPr>
            </a:pPr>
            <a:r>
              <a:t>Target gross</a:t>
            </a:r>
            <a:br/>
            <a:r>
              <a:t>margin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Market Opportunity</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Massive, growing, underserved</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11 / 17</a:t>
            </a:r>
          </a:p>
        </p:txBody>
      </p:sp>
      <p:pic>
        <p:nvPicPr>
          <p:cNvPr id="8" name="Picture 7" descr="market_size.png"/>
          <p:cNvPicPr>
            <a:picLocks noChangeAspect="1"/>
          </p:cNvPicPr>
          <p:nvPr/>
        </p:nvPicPr>
        <p:blipFill>
          <a:blip r:embed="rId3"/>
          <a:stretch>
            <a:fillRect/>
          </a:stretch>
        </p:blipFill>
        <p:spPr>
          <a:xfrm>
            <a:off x="457200" y="1828800"/>
            <a:ext cx="6858000" cy="4114800"/>
          </a:xfrm>
          <a:prstGeom prst="rect">
            <a:avLst/>
          </a:prstGeom>
        </p:spPr>
      </p:pic>
      <p:sp>
        <p:nvSpPr>
          <p:cNvPr id="9" name="TextBox 8"/>
          <p:cNvSpPr txBox="1"/>
          <p:nvPr/>
        </p:nvSpPr>
        <p:spPr>
          <a:xfrm>
            <a:off x="7772400" y="1828800"/>
            <a:ext cx="4114800" cy="4572000"/>
          </a:xfrm>
          <a:prstGeom prst="rect">
            <a:avLst/>
          </a:prstGeom>
          <a:noFill/>
        </p:spPr>
        <p:txBody>
          <a:bodyPr wrap="square">
            <a:spAutoFit/>
          </a:bodyPr>
          <a:lstStyle/>
          <a:p>
            <a:pPr>
              <a:spcAft>
                <a:spcPts val="600"/>
              </a:spcAft>
              <a:defRPr sz="1200">
                <a:solidFill>
                  <a:srgbClr val="FEFEFE"/>
                </a:solidFill>
                <a:latin typeface="Calibri"/>
              </a:defRPr>
            </a:pPr>
            <a:r>
              <a:t>TAM: $1.8 trillion - Global AI Infrastructure.</a:t>
            </a:r>
          </a:p>
          <a:p>
            <a:pPr>
              <a:spcAft>
                <a:spcPts val="600"/>
              </a:spcAft>
              <a:defRPr sz="1200">
                <a:solidFill>
                  <a:srgbClr val="FEFEFE"/>
                </a:solidFill>
                <a:latin typeface="Calibri"/>
              </a:defRPr>
            </a:pPr>
            <a:r>
              <a:t>SAM: $300 billion - Next-Gen Cloud &amp; Neuromorphic.</a:t>
            </a:r>
          </a:p>
          <a:p>
            <a:pPr>
              <a:spcAft>
                <a:spcPts val="600"/>
              </a:spcAft>
              <a:defRPr sz="1200">
                <a:solidFill>
                  <a:srgbClr val="FEFEFE"/>
                </a:solidFill>
                <a:latin typeface="Calibri"/>
              </a:defRPr>
            </a:pPr>
            <a:r>
              <a:t>  Edge AI chips ($40B by 2030, 22% CAGR).</a:t>
            </a:r>
          </a:p>
          <a:p>
            <a:pPr>
              <a:spcAft>
                <a:spcPts val="600"/>
              </a:spcAft>
              <a:defRPr sz="1200">
                <a:solidFill>
                  <a:srgbClr val="FEFEFE"/>
                </a:solidFill>
                <a:latin typeface="Calibri"/>
              </a:defRPr>
            </a:pPr>
            <a:r>
              <a:t>  Neuromorphic computing ($8B by 2030, 74% CAGR).</a:t>
            </a:r>
          </a:p>
          <a:p>
            <a:pPr>
              <a:spcAft>
                <a:spcPts val="600"/>
              </a:spcAft>
              <a:defRPr sz="1200">
                <a:solidFill>
                  <a:srgbClr val="FEFEFE"/>
                </a:solidFill>
                <a:latin typeface="Calibri"/>
              </a:defRPr>
            </a:pPr>
            <a:r>
              <a:t>  Brain simulation software ($1.2B by 2030, 43% CAGR).</a:t>
            </a:r>
          </a:p>
          <a:p>
            <a:pPr>
              <a:spcAft>
                <a:spcPts val="600"/>
              </a:spcAft>
              <a:defRPr sz="1200">
                <a:solidFill>
                  <a:srgbClr val="FEFEFE"/>
                </a:solidFill>
                <a:latin typeface="Calibri"/>
              </a:defRPr>
            </a:pPr>
            <a:r>
              <a:t>  Bio-inspired ML platforms ($800M by 2030, 52% CAGR).</a:t>
            </a:r>
          </a:p>
          <a:p>
            <a:pPr>
              <a:spcAft>
                <a:spcPts val="600"/>
              </a:spcAft>
              <a:defRPr sz="1200">
                <a:solidFill>
                  <a:srgbClr val="FEFEFE"/>
                </a:solidFill>
                <a:latin typeface="Calibri"/>
              </a:defRPr>
            </a:pPr>
          </a:p>
          <a:p>
            <a:pPr>
              <a:spcAft>
                <a:spcPts val="600"/>
              </a:spcAft>
              <a:defRPr sz="1200">
                <a:solidFill>
                  <a:srgbClr val="FEFEFE"/>
                </a:solidFill>
                <a:latin typeface="Calibri"/>
              </a:defRPr>
            </a:pPr>
            <a:r>
              <a:t>SOM: $450 million - 1,500 hubs x $300k ACV.</a:t>
            </a:r>
          </a:p>
          <a:p>
            <a:pPr>
              <a:spcAft>
                <a:spcPts val="600"/>
              </a:spcAft>
              <a:defRPr sz="1200">
                <a:solidFill>
                  <a:srgbClr val="FEFEFE"/>
                </a:solidFill>
                <a:latin typeface="Calibri"/>
              </a:defRPr>
            </a:pPr>
            <a:r>
              <a:t>Achievable via STTR framework + university partnerships.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Competitive Landscape</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Alone in the open + hardware quadrant</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12 / 17</a:t>
            </a:r>
          </a:p>
        </p:txBody>
      </p:sp>
      <p:pic>
        <p:nvPicPr>
          <p:cNvPr id="8" name="Picture 7" descr="competitive_matrix.png"/>
          <p:cNvPicPr>
            <a:picLocks noChangeAspect="1"/>
          </p:cNvPicPr>
          <p:nvPr/>
        </p:nvPicPr>
        <p:blipFill>
          <a:blip r:embed="rId3"/>
          <a:stretch>
            <a:fillRect/>
          </a:stretch>
        </p:blipFill>
        <p:spPr>
          <a:xfrm>
            <a:off x="274320" y="1645920"/>
            <a:ext cx="6858000" cy="4754880"/>
          </a:xfrm>
          <a:prstGeom prst="rect">
            <a:avLst/>
          </a:prstGeom>
        </p:spPr>
      </p:pic>
      <p:sp>
        <p:nvSpPr>
          <p:cNvPr id="9" name="TextBox 8"/>
          <p:cNvSpPr txBox="1"/>
          <p:nvPr/>
        </p:nvSpPr>
        <p:spPr>
          <a:xfrm>
            <a:off x="7315200" y="1645920"/>
            <a:ext cx="4572000" cy="4572000"/>
          </a:xfrm>
          <a:prstGeom prst="rect">
            <a:avLst/>
          </a:prstGeom>
          <a:noFill/>
        </p:spPr>
        <p:txBody>
          <a:bodyPr wrap="square">
            <a:spAutoFit/>
          </a:bodyPr>
          <a:lstStyle/>
          <a:p>
            <a:pPr>
              <a:spcAft>
                <a:spcPts val="600"/>
              </a:spcAft>
              <a:defRPr sz="1200">
                <a:solidFill>
                  <a:srgbClr val="FEFEFE"/>
                </a:solidFill>
                <a:latin typeface="Calibri"/>
              </a:defRPr>
            </a:pPr>
            <a:r>
              <a:t>Google/JAINA: Proprietary EM pipeline - closed, gated.</a:t>
            </a:r>
          </a:p>
          <a:p>
            <a:pPr>
              <a:spcAft>
                <a:spcPts val="600"/>
              </a:spcAft>
              <a:defRPr sz="1200">
                <a:solidFill>
                  <a:srgbClr val="FEFEFE"/>
                </a:solidFill>
                <a:latin typeface="Calibri"/>
              </a:defRPr>
            </a:pPr>
            <a:r>
              <a:t>Intel INRC: Loihi access via grant - ~200 labs worldwide.</a:t>
            </a:r>
          </a:p>
          <a:p>
            <a:pPr>
              <a:spcAft>
                <a:spcPts val="600"/>
              </a:spcAft>
              <a:defRPr sz="1200">
                <a:solidFill>
                  <a:srgbClr val="FEFEFE"/>
                </a:solidFill>
                <a:latin typeface="Calibri"/>
              </a:defRPr>
            </a:pPr>
            <a:r>
              <a:t>FlyWire Codex: Static connectome browser - no computation.</a:t>
            </a:r>
          </a:p>
          <a:p>
            <a:pPr>
              <a:spcAft>
                <a:spcPts val="600"/>
              </a:spcAft>
              <a:defRPr sz="1200">
                <a:solidFill>
                  <a:srgbClr val="FEFEFE"/>
                </a:solidFill>
                <a:latin typeface="Calibri"/>
              </a:defRPr>
            </a:pPr>
            <a:r>
              <a:t>Hugging Face: ML model hub - no neuromorphic, no connectome.</a:t>
            </a:r>
          </a:p>
          <a:p>
            <a:pPr>
              <a:spcAft>
                <a:spcPts val="600"/>
              </a:spcAft>
              <a:defRPr sz="1200">
                <a:solidFill>
                  <a:srgbClr val="FEFEFE"/>
                </a:solidFill>
                <a:latin typeface="Calibri"/>
              </a:defRPr>
            </a:pPr>
          </a:p>
          <a:p>
            <a:pPr>
              <a:spcAft>
                <a:spcPts val="600"/>
              </a:spcAft>
              <a:defRPr sz="1200">
                <a:solidFill>
                  <a:srgbClr val="FEFEFE"/>
                </a:solidFill>
                <a:latin typeface="Calibri"/>
              </a:defRPr>
            </a:pPr>
            <a:r>
              <a:t>SynapTechBio Advantage:</a:t>
            </a:r>
          </a:p>
          <a:p>
            <a:pPr>
              <a:spcAft>
                <a:spcPts val="600"/>
              </a:spcAft>
              <a:defRPr sz="1200">
                <a:solidFill>
                  <a:srgbClr val="FEFEFE"/>
                </a:solidFill>
                <a:latin typeface="Calibri"/>
              </a:defRPr>
            </a:pPr>
            <a:r>
              <a:t>  Open platform, multi-tenant, DCSL-protected.</a:t>
            </a:r>
          </a:p>
          <a:p>
            <a:pPr>
              <a:spcAft>
                <a:spcPts val="600"/>
              </a:spcAft>
              <a:defRPr sz="1200">
                <a:solidFill>
                  <a:srgbClr val="FEFEFE"/>
                </a:solidFill>
                <a:latin typeface="Calibri"/>
              </a:defRPr>
            </a:pPr>
            <a:r>
              <a:t>  Pay-as-you-go Loihi - zero grant overhead.</a:t>
            </a:r>
          </a:p>
          <a:p>
            <a:pPr>
              <a:spcAft>
                <a:spcPts val="600"/>
              </a:spcAft>
              <a:defRPr sz="1200">
                <a:solidFill>
                  <a:srgbClr val="FEFEFE"/>
                </a:solidFill>
                <a:latin typeface="Calibri"/>
              </a:defRPr>
            </a:pPr>
            <a:r>
              <a:t>  IDRE runs connectomes live (spMV, pulses, LSM).</a:t>
            </a:r>
          </a:p>
          <a:p>
            <a:pPr>
              <a:spcAft>
                <a:spcPts val="600"/>
              </a:spcAft>
              <a:defRPr sz="1200">
                <a:solidFill>
                  <a:srgbClr val="FEFEFE"/>
                </a:solidFill>
                <a:latin typeface="Calibri"/>
              </a:defRPr>
            </a:pPr>
            <a:r>
              <a:t>  Living Blueprint continuously improves from community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Truth-First Roadmap</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4 visionary phases, 7 execution milestones</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13 / 17</a:t>
            </a:r>
          </a:p>
        </p:txBody>
      </p:sp>
      <p:pic>
        <p:nvPicPr>
          <p:cNvPr id="8" name="Picture 7" descr="vision_roadmap.png"/>
          <p:cNvPicPr>
            <a:picLocks noChangeAspect="1"/>
          </p:cNvPicPr>
          <p:nvPr/>
        </p:nvPicPr>
        <p:blipFill>
          <a:blip r:embed="rId3"/>
          <a:stretch>
            <a:fillRect/>
          </a:stretch>
        </p:blipFill>
        <p:spPr>
          <a:xfrm>
            <a:off x="457200" y="1645920"/>
            <a:ext cx="10058400" cy="3200400"/>
          </a:xfrm>
          <a:prstGeom prst="rect">
            <a:avLst/>
          </a:prstGeom>
        </p:spPr>
      </p:pic>
      <p:pic>
        <p:nvPicPr>
          <p:cNvPr id="9" name="Picture 8" descr="roadmap.png"/>
          <p:cNvPicPr>
            <a:picLocks noChangeAspect="1"/>
          </p:cNvPicPr>
          <p:nvPr/>
        </p:nvPicPr>
        <p:blipFill>
          <a:blip r:embed="rId4"/>
          <a:stretch>
            <a:fillRect/>
          </a:stretch>
        </p:blipFill>
        <p:spPr>
          <a:xfrm>
            <a:off x="457200" y="4846320"/>
            <a:ext cx="11247120" cy="18288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Traction &amp; Operational Strategy</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Built with extreme capital efficiency via STTR</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14 / 17</a:t>
            </a:r>
          </a:p>
        </p:txBody>
      </p:sp>
      <p:sp>
        <p:nvSpPr>
          <p:cNvPr id="8" name="TextBox 7"/>
          <p:cNvSpPr txBox="1"/>
          <p:nvPr/>
        </p:nvSpPr>
        <p:spPr>
          <a:xfrm>
            <a:off x="731520" y="1645920"/>
            <a:ext cx="5029200" cy="457200"/>
          </a:xfrm>
          <a:prstGeom prst="rect">
            <a:avLst/>
          </a:prstGeom>
          <a:noFill/>
        </p:spPr>
        <p:txBody>
          <a:bodyPr wrap="square">
            <a:spAutoFit/>
          </a:bodyPr>
          <a:lstStyle/>
          <a:p>
            <a:pPr algn="l">
              <a:defRPr sz="1800" b="1">
                <a:solidFill>
                  <a:srgbClr val="E8C84A"/>
                </a:solidFill>
                <a:latin typeface="Calibri"/>
              </a:defRPr>
            </a:pPr>
            <a:r>
              <a:t>What We Have Built</a:t>
            </a:r>
          </a:p>
        </p:txBody>
      </p:sp>
      <p:sp>
        <p:nvSpPr>
          <p:cNvPr id="9" name="TextBox 8"/>
          <p:cNvSpPr txBox="1"/>
          <p:nvPr/>
        </p:nvSpPr>
        <p:spPr>
          <a:xfrm>
            <a:off x="731520" y="2194560"/>
            <a:ext cx="5029200" cy="4114800"/>
          </a:xfrm>
          <a:prstGeom prst="rect">
            <a:avLst/>
          </a:prstGeom>
          <a:noFill/>
        </p:spPr>
        <p:txBody>
          <a:bodyPr wrap="square">
            <a:spAutoFit/>
          </a:bodyPr>
          <a:lstStyle/>
          <a:p>
            <a:pPr>
              <a:spcAft>
                <a:spcPts val="600"/>
              </a:spcAft>
              <a:defRPr sz="1300">
                <a:solidFill>
                  <a:srgbClr val="FEFEFE"/>
                </a:solidFill>
                <a:latin typeface="Calibri"/>
              </a:defRPr>
            </a:pPr>
            <a:r>
              <a:t>Complete IDRE backend serving connectome on GPU/CPU.</a:t>
            </a:r>
          </a:p>
          <a:p>
            <a:pPr>
              <a:spcAft>
                <a:spcPts val="600"/>
              </a:spcAft>
              <a:defRPr sz="1300">
                <a:solidFill>
                  <a:srgbClr val="FEFEFE"/>
                </a:solidFill>
                <a:latin typeface="Calibri"/>
              </a:defRPr>
            </a:pPr>
            <a:r>
              <a:t>FlyWire LSM with &gt;95% accuracy - trains in 30 seconds.</a:t>
            </a:r>
          </a:p>
          <a:p>
            <a:pPr>
              <a:spcAft>
                <a:spcPts val="600"/>
              </a:spcAft>
              <a:defRPr sz="1300">
                <a:solidFill>
                  <a:srgbClr val="FEFEFE"/>
                </a:solidFill>
                <a:latin typeface="Calibri"/>
              </a:defRPr>
            </a:pPr>
            <a:r>
              <a:t>React Three Fiber 3D brain viewer - 130k neurons, SSE pulses.</a:t>
            </a:r>
          </a:p>
          <a:p>
            <a:pPr>
              <a:spcAft>
                <a:spcPts val="600"/>
              </a:spcAft>
              <a:defRPr sz="1300">
                <a:solidFill>
                  <a:srgbClr val="FEFEFE"/>
                </a:solidFill>
                <a:latin typeface="Calibri"/>
              </a:defRPr>
            </a:pPr>
            <a:r>
              <a:t>DCSL middleware with AES-256-GCM + Pinecone integration.</a:t>
            </a:r>
          </a:p>
          <a:p>
            <a:pPr>
              <a:spcAft>
                <a:spcPts val="600"/>
              </a:spcAft>
              <a:defRPr sz="1300">
                <a:solidFill>
                  <a:srgbClr val="FEFEFE"/>
                </a:solidFill>
                <a:latin typeface="Calibri"/>
              </a:defRPr>
            </a:pPr>
            <a:r>
              <a:t>Intel Loihi bridge via Lava (compile/run lifecycle).</a:t>
            </a:r>
          </a:p>
          <a:p>
            <a:pPr>
              <a:spcAft>
                <a:spcPts val="600"/>
              </a:spcAft>
              <a:defRPr sz="1300">
                <a:solidFill>
                  <a:srgbClr val="FEFEFE"/>
                </a:solidFill>
                <a:latin typeface="Calibri"/>
              </a:defRPr>
            </a:pPr>
            <a:r>
              <a:t>Docker deployment on Lambda Labs A100 GPU.</a:t>
            </a:r>
          </a:p>
          <a:p>
            <a:pPr>
              <a:spcAft>
                <a:spcPts val="600"/>
              </a:spcAft>
              <a:defRPr sz="1300">
                <a:solidFill>
                  <a:srgbClr val="FEFEFE"/>
                </a:solidFill>
                <a:latin typeface="Calibri"/>
              </a:defRPr>
            </a:pPr>
            <a:r>
              <a:t>3 test files passing; full CI/CD scaffold ready.</a:t>
            </a:r>
          </a:p>
        </p:txBody>
      </p:sp>
      <p:sp>
        <p:nvSpPr>
          <p:cNvPr id="10" name="TextBox 9"/>
          <p:cNvSpPr txBox="1"/>
          <p:nvPr/>
        </p:nvSpPr>
        <p:spPr>
          <a:xfrm>
            <a:off x="6400800" y="1645920"/>
            <a:ext cx="5029200" cy="457200"/>
          </a:xfrm>
          <a:prstGeom prst="rect">
            <a:avLst/>
          </a:prstGeom>
          <a:noFill/>
        </p:spPr>
        <p:txBody>
          <a:bodyPr wrap="square">
            <a:spAutoFit/>
          </a:bodyPr>
          <a:lstStyle/>
          <a:p>
            <a:pPr algn="l">
              <a:defRPr sz="1800" b="1">
                <a:solidFill>
                  <a:srgbClr val="E8C84A"/>
                </a:solidFill>
                <a:latin typeface="Calibri"/>
              </a:defRPr>
            </a:pPr>
            <a:r>
              <a:t>STTR Grant Strategy</a:t>
            </a:r>
          </a:p>
        </p:txBody>
      </p:sp>
      <p:sp>
        <p:nvSpPr>
          <p:cNvPr id="11" name="TextBox 10"/>
          <p:cNvSpPr txBox="1"/>
          <p:nvPr/>
        </p:nvSpPr>
        <p:spPr>
          <a:xfrm>
            <a:off x="6400800" y="2194560"/>
            <a:ext cx="5029200" cy="4114800"/>
          </a:xfrm>
          <a:prstGeom prst="rect">
            <a:avLst/>
          </a:prstGeom>
          <a:noFill/>
        </p:spPr>
        <p:txBody>
          <a:bodyPr wrap="square">
            <a:spAutoFit/>
          </a:bodyPr>
          <a:lstStyle/>
          <a:p>
            <a:pPr>
              <a:spcAft>
                <a:spcPts val="600"/>
              </a:spcAft>
              <a:defRPr sz="1300">
                <a:solidFill>
                  <a:srgbClr val="FEFEFE"/>
                </a:solidFill>
                <a:latin typeface="Calibri"/>
              </a:defRPr>
            </a:pPr>
            <a:r>
              <a:t>Bypass early wet-lab capex via university partnerships.</a:t>
            </a:r>
          </a:p>
          <a:p>
            <a:pPr>
              <a:spcAft>
                <a:spcPts val="600"/>
              </a:spcAft>
              <a:defRPr sz="1300">
                <a:solidFill>
                  <a:srgbClr val="FEFEFE"/>
                </a:solidFill>
                <a:latin typeface="Calibri"/>
              </a:defRPr>
            </a:pPr>
            <a:r>
              <a:t>STTR: federal grants for small businesses + research institutions.</a:t>
            </a:r>
          </a:p>
          <a:p>
            <a:pPr>
              <a:spcAft>
                <a:spcPts val="600"/>
              </a:spcAft>
              <a:defRPr sz="1300">
                <a:solidFill>
                  <a:srgbClr val="FEFEFE"/>
                </a:solidFill>
                <a:latin typeface="Calibri"/>
              </a:defRPr>
            </a:pPr>
            <a:r>
              <a:t>Target: Stanford (Bio-X), MIT (CBMM), UCSD (Swartz Center).</a:t>
            </a:r>
          </a:p>
          <a:p>
            <a:pPr>
              <a:spcAft>
                <a:spcPts val="600"/>
              </a:spcAft>
              <a:defRPr sz="1300">
                <a:solidFill>
                  <a:srgbClr val="FEFEFE"/>
                </a:solidFill>
                <a:latin typeface="Calibri"/>
              </a:defRPr>
            </a:pPr>
            <a:r>
              <a:t>Access world-class PhD expertise at near-zero cost.</a:t>
            </a:r>
          </a:p>
          <a:p>
            <a:pPr>
              <a:spcAft>
                <a:spcPts val="600"/>
              </a:spcAft>
              <a:defRPr sz="1300">
                <a:solidFill>
                  <a:srgbClr val="FEFEFE"/>
                </a:solidFill>
                <a:latin typeface="Calibri"/>
              </a:defRPr>
            </a:pPr>
            <a:r>
              <a:t>Phase I STTR: ~$250k non-dilutive (6 months).</a:t>
            </a:r>
          </a:p>
          <a:p>
            <a:pPr>
              <a:spcAft>
                <a:spcPts val="600"/>
              </a:spcAft>
              <a:defRPr sz="1300">
                <a:solidFill>
                  <a:srgbClr val="FEFEFE"/>
                </a:solidFill>
                <a:latin typeface="Calibri"/>
              </a:defRPr>
            </a:pPr>
            <a:r>
              <a:t>Phase II STTR: ~$1M non-dilutive (2 years).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The Intellect Commons</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A planetary-scale neural foundry for all of humanity</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15 / 17</a:t>
            </a:r>
          </a:p>
        </p:txBody>
      </p:sp>
      <p:sp>
        <p:nvSpPr>
          <p:cNvPr id="8" name="TextBox 7"/>
          <p:cNvSpPr txBox="1"/>
          <p:nvPr/>
        </p:nvSpPr>
        <p:spPr>
          <a:xfrm>
            <a:off x="731520" y="1828800"/>
            <a:ext cx="5486400" cy="4572000"/>
          </a:xfrm>
          <a:prstGeom prst="rect">
            <a:avLst/>
          </a:prstGeom>
          <a:noFill/>
        </p:spPr>
        <p:txBody>
          <a:bodyPr wrap="square">
            <a:spAutoFit/>
          </a:bodyPr>
          <a:lstStyle/>
          <a:p>
            <a:pPr algn="l">
              <a:defRPr sz="1400" b="0">
                <a:solidFill>
                  <a:srgbClr val="FEFEFE"/>
                </a:solidFill>
                <a:latin typeface="Calibri"/>
              </a:defRPr>
            </a:pPr>
            <a:r>
              <a:t>The Vision</a:t>
            </a:r>
            <a:br/>
            <a:br/>
            <a:r>
              <a:t>We fund the hardware.</a:t>
            </a:r>
            <a:br/>
            <a:r>
              <a:t>You bring the genius.</a:t>
            </a:r>
            <a:br/>
            <a:r>
              <a:t>The resulting intelligence belongs to the people.</a:t>
            </a:r>
            <a:br/>
            <a:br/>
            <a:r>
              <a:t>The Intellect Commons is a globally distributed, community-governed neural computation foundry where:</a:t>
            </a:r>
            <a:br/>
            <a:br/>
            <a:r>
              <a:t>  - Any researcher runs connectome-scale simulations for free</a:t>
            </a:r>
            <a:br/>
            <a:r>
              <a:t>  - IP is cryptographically protected - no one can read your data</a:t>
            </a:r>
            <a:br/>
            <a:r>
              <a:t>  - Aggregated telemetry builds a public intelligence substrate</a:t>
            </a:r>
            <a:br/>
            <a:r>
              <a:t>  - The Living Blueprint grows smarter with every query</a:t>
            </a:r>
            <a:br/>
            <a:r>
              <a:t>  - All model weights are open. No single entity owns the future of intelligence.</a:t>
            </a:r>
          </a:p>
        </p:txBody>
      </p:sp>
      <p:sp>
        <p:nvSpPr>
          <p:cNvPr id="9" name="TextBox 8"/>
          <p:cNvSpPr txBox="1"/>
          <p:nvPr/>
        </p:nvSpPr>
        <p:spPr>
          <a:xfrm>
            <a:off x="6858000" y="1828800"/>
            <a:ext cx="5029200" cy="4572000"/>
          </a:xfrm>
          <a:prstGeom prst="rect">
            <a:avLst/>
          </a:prstGeom>
          <a:noFill/>
        </p:spPr>
        <p:txBody>
          <a:bodyPr wrap="square">
            <a:spAutoFit/>
          </a:bodyPr>
          <a:lstStyle/>
          <a:p>
            <a:pPr>
              <a:spcAft>
                <a:spcPts val="600"/>
              </a:spcAft>
              <a:defRPr sz="1200">
                <a:solidFill>
                  <a:srgbClr val="7DD4D4"/>
                </a:solidFill>
                <a:latin typeface="Calibri"/>
              </a:defRPr>
            </a:pPr>
            <a:r>
              <a:t>7-Phase Lifecycle:</a:t>
            </a:r>
          </a:p>
          <a:p>
            <a:pPr>
              <a:spcAft>
                <a:spcPts val="600"/>
              </a:spcAft>
              <a:defRPr sz="1200">
                <a:solidFill>
                  <a:srgbClr val="7DD4D4"/>
                </a:solidFill>
                <a:latin typeface="Calibri"/>
              </a:defRPr>
            </a:pPr>
            <a:r>
              <a:t>1. Discovery - sign in via ORCID</a:t>
            </a:r>
          </a:p>
          <a:p>
            <a:pPr>
              <a:spcAft>
                <a:spcPts val="600"/>
              </a:spcAft>
              <a:defRPr sz="1200">
                <a:solidFill>
                  <a:srgbClr val="7DD4D4"/>
                </a:solidFill>
                <a:latin typeface="Calibri"/>
              </a:defRPr>
            </a:pPr>
            <a:r>
              <a:t>2. Simulation - run spMV, explore connectomes</a:t>
            </a:r>
          </a:p>
          <a:p>
            <a:pPr>
              <a:spcAft>
                <a:spcPts val="600"/>
              </a:spcAft>
              <a:defRPr sz="1200">
                <a:solidFill>
                  <a:srgbClr val="7DD4D4"/>
                </a:solidFill>
                <a:latin typeface="Calibri"/>
              </a:defRPr>
            </a:pPr>
            <a:r>
              <a:t>3. IP Lockbox - AES-256-GCM encrypted S3</a:t>
            </a:r>
          </a:p>
          <a:p>
            <a:pPr>
              <a:spcAft>
                <a:spcPts val="600"/>
              </a:spcAft>
              <a:defRPr sz="1200">
                <a:solidFill>
                  <a:srgbClr val="7DD4D4"/>
                </a:solidFill>
                <a:latin typeface="Calibri"/>
              </a:defRPr>
            </a:pPr>
            <a:r>
              <a:t>4. Telemetry - anonymized, public similarity search</a:t>
            </a:r>
          </a:p>
          <a:p>
            <a:pPr>
              <a:spcAft>
                <a:spcPts val="600"/>
              </a:spcAft>
              <a:defRPr sz="1200">
                <a:solidFill>
                  <a:srgbClr val="7DD4D4"/>
                </a:solidFill>
                <a:latin typeface="Calibri"/>
              </a:defRPr>
            </a:pPr>
            <a:r>
              <a:t>5. Alignment - DeepSeek-V4 continuous digest</a:t>
            </a:r>
          </a:p>
          <a:p>
            <a:pPr>
              <a:spcAft>
                <a:spcPts val="600"/>
              </a:spcAft>
              <a:defRPr sz="1200">
                <a:solidFill>
                  <a:srgbClr val="7DD4D4"/>
                </a:solidFill>
                <a:latin typeface="Calibri"/>
              </a:defRPr>
            </a:pPr>
            <a:r>
              <a:t>6. Foundry - community neurons on Cloud Loihi</a:t>
            </a:r>
          </a:p>
          <a:p>
            <a:pPr>
              <a:spcAft>
                <a:spcPts val="600"/>
              </a:spcAft>
              <a:defRPr sz="1200">
                <a:solidFill>
                  <a:srgbClr val="7DD4D4"/>
                </a:solidFill>
                <a:latin typeface="Calibri"/>
              </a:defRPr>
            </a:pPr>
            <a:r>
              <a:t>7. Governance - open weights, community-owned</a:t>
            </a:r>
          </a:p>
        </p:txBody>
      </p:sp>
      <p:sp>
        <p:nvSpPr>
          <p:cNvPr id="10" name="TextBox 9"/>
          <p:cNvSpPr txBox="1"/>
          <p:nvPr/>
        </p:nvSpPr>
        <p:spPr>
          <a:xfrm>
            <a:off x="731520" y="5943600"/>
            <a:ext cx="10515600" cy="365760"/>
          </a:xfrm>
          <a:prstGeom prst="rect">
            <a:avLst/>
          </a:prstGeom>
          <a:noFill/>
        </p:spPr>
        <p:txBody>
          <a:bodyPr wrap="square">
            <a:spAutoFit/>
          </a:bodyPr>
          <a:lstStyle/>
          <a:p>
            <a:pPr algn="ctr">
              <a:defRPr sz="1200" b="0">
                <a:solidFill>
                  <a:srgbClr val="E8C84A"/>
                </a:solidFill>
                <a:latin typeface="Calibri"/>
              </a:defRPr>
            </a:pPr>
            <a:r>
              <a:t>"This is not a SaaS trap. It is a planetary-scale neural foundry."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The Ask: $150,000 Pre-Seed</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Delaware C-Corp | Post-money SAFE | 18-month runway</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16 / 17</a:t>
            </a:r>
          </a:p>
        </p:txBody>
      </p:sp>
      <p:pic>
        <p:nvPicPr>
          <p:cNvPr id="8" name="Picture 7" descr="use_of_funds.png"/>
          <p:cNvPicPr>
            <a:picLocks noChangeAspect="1"/>
          </p:cNvPicPr>
          <p:nvPr/>
        </p:nvPicPr>
        <p:blipFill>
          <a:blip r:embed="rId3"/>
          <a:stretch>
            <a:fillRect/>
          </a:stretch>
        </p:blipFill>
        <p:spPr>
          <a:xfrm>
            <a:off x="6217920" y="1645920"/>
            <a:ext cx="5029200" cy="4572000"/>
          </a:xfrm>
          <a:prstGeom prst="rect">
            <a:avLst/>
          </a:prstGeom>
        </p:spPr>
      </p:pic>
      <p:sp>
        <p:nvSpPr>
          <p:cNvPr id="9" name="TextBox 8"/>
          <p:cNvSpPr txBox="1"/>
          <p:nvPr/>
        </p:nvSpPr>
        <p:spPr>
          <a:xfrm>
            <a:off x="731520" y="1645920"/>
            <a:ext cx="5029200" cy="457200"/>
          </a:xfrm>
          <a:prstGeom prst="rect">
            <a:avLst/>
          </a:prstGeom>
          <a:noFill/>
        </p:spPr>
        <p:txBody>
          <a:bodyPr wrap="square">
            <a:spAutoFit/>
          </a:bodyPr>
          <a:lstStyle/>
          <a:p>
            <a:pPr algn="l">
              <a:defRPr sz="1800" b="1">
                <a:solidFill>
                  <a:srgbClr val="E8C84A"/>
                </a:solidFill>
                <a:latin typeface="Calibri"/>
              </a:defRPr>
            </a:pPr>
            <a:r>
              <a:t>Allocation</a:t>
            </a:r>
          </a:p>
        </p:txBody>
      </p:sp>
      <p:sp>
        <p:nvSpPr>
          <p:cNvPr id="10" name="TextBox 9"/>
          <p:cNvSpPr txBox="1"/>
          <p:nvPr/>
        </p:nvSpPr>
        <p:spPr>
          <a:xfrm>
            <a:off x="731520" y="2194560"/>
            <a:ext cx="5029200" cy="3200400"/>
          </a:xfrm>
          <a:prstGeom prst="rect">
            <a:avLst/>
          </a:prstGeom>
          <a:noFill/>
        </p:spPr>
        <p:txBody>
          <a:bodyPr wrap="square">
            <a:spAutoFit/>
          </a:bodyPr>
          <a:lstStyle/>
          <a:p>
            <a:pPr>
              <a:spcAft>
                <a:spcPts val="600"/>
              </a:spcAft>
              <a:defRPr sz="1300">
                <a:solidFill>
                  <a:srgbClr val="FEFEFE"/>
                </a:solidFill>
                <a:latin typeface="Calibri"/>
              </a:defRPr>
            </a:pPr>
            <a:r>
              <a:t>60% - Compute Infrastructure</a:t>
            </a:r>
          </a:p>
          <a:p>
            <a:pPr>
              <a:spcAft>
                <a:spcPts val="600"/>
              </a:spcAft>
              <a:defRPr sz="1300">
                <a:solidFill>
                  <a:srgbClr val="FEFEFE"/>
                </a:solidFill>
                <a:latin typeface="Calibri"/>
              </a:defRPr>
            </a:pPr>
            <a:r>
              <a:t>  $30K - Cloud GPU (Lambda Labs, 2x A100 80GB, 6 months)</a:t>
            </a:r>
          </a:p>
          <a:p>
            <a:pPr>
              <a:spcAft>
                <a:spcPts val="600"/>
              </a:spcAft>
              <a:defRPr sz="1300">
                <a:solidFill>
                  <a:srgbClr val="FEFEFE"/>
                </a:solidFill>
                <a:latin typeface="Calibri"/>
              </a:defRPr>
            </a:pPr>
            <a:r>
              <a:t>  $15K - INRC / Loihi 2 cloud access (6 months)</a:t>
            </a:r>
          </a:p>
          <a:p>
            <a:pPr>
              <a:spcAft>
                <a:spcPts val="600"/>
              </a:spcAft>
              <a:defRPr sz="1300">
                <a:solidFill>
                  <a:srgbClr val="FEFEFE"/>
                </a:solidFill>
                <a:latin typeface="Calibri"/>
              </a:defRPr>
            </a:pPr>
            <a:r>
              <a:t>  $10K - Pinecone + S3 + Hugging Face infra</a:t>
            </a:r>
          </a:p>
          <a:p>
            <a:pPr>
              <a:spcAft>
                <a:spcPts val="600"/>
              </a:spcAft>
              <a:defRPr sz="1300">
                <a:solidFill>
                  <a:srgbClr val="FEFEFE"/>
                </a:solidFill>
                <a:latin typeface="Calibri"/>
              </a:defRPr>
            </a:pPr>
            <a:r>
              <a:t>40% - Engineering &amp; IP</a:t>
            </a:r>
          </a:p>
          <a:p>
            <a:pPr>
              <a:spcAft>
                <a:spcPts val="600"/>
              </a:spcAft>
              <a:defRPr sz="1300">
                <a:solidFill>
                  <a:srgbClr val="FEFEFE"/>
                </a:solidFill>
                <a:latin typeface="Calibri"/>
              </a:defRPr>
            </a:pPr>
            <a:r>
              <a:t>  $80K - Engineering (2 FTE, 6 months)</a:t>
            </a:r>
          </a:p>
          <a:p>
            <a:pPr>
              <a:spcAft>
                <a:spcPts val="600"/>
              </a:spcAft>
              <a:defRPr sz="1300">
                <a:solidFill>
                  <a:srgbClr val="FEFEFE"/>
                </a:solidFill>
                <a:latin typeface="Calibri"/>
              </a:defRPr>
            </a:pPr>
            <a:r>
              <a:t>  $10K - Legal / IP (DCSL framework, provisional patents)</a:t>
            </a:r>
          </a:p>
          <a:p>
            <a:pPr>
              <a:spcAft>
                <a:spcPts val="600"/>
              </a:spcAft>
              <a:defRPr sz="1300">
                <a:solidFill>
                  <a:srgbClr val="FEFEFE"/>
                </a:solidFill>
                <a:latin typeface="Calibri"/>
              </a:defRPr>
            </a:pPr>
            <a:r>
              <a:t>  $5K - Demo / marketing / conference travel</a:t>
            </a:r>
          </a:p>
        </p:txBody>
      </p:sp>
      <p:sp>
        <p:nvSpPr>
          <p:cNvPr id="11" name="TextBox 10"/>
          <p:cNvSpPr txBox="1"/>
          <p:nvPr/>
        </p:nvSpPr>
        <p:spPr>
          <a:xfrm>
            <a:off x="731520" y="5029200"/>
            <a:ext cx="5029200" cy="365760"/>
          </a:xfrm>
          <a:prstGeom prst="rect">
            <a:avLst/>
          </a:prstGeom>
          <a:noFill/>
        </p:spPr>
        <p:txBody>
          <a:bodyPr wrap="square">
            <a:spAutoFit/>
          </a:bodyPr>
          <a:lstStyle/>
          <a:p>
            <a:pPr algn="l">
              <a:defRPr sz="1400" b="1">
                <a:solidFill>
                  <a:srgbClr val="E8C84A"/>
                </a:solidFill>
                <a:latin typeface="Calibri"/>
              </a:defRPr>
            </a:pPr>
            <a:r>
              <a:t>Key Milestones</a:t>
            </a:r>
          </a:p>
        </p:txBody>
      </p:sp>
      <p:sp>
        <p:nvSpPr>
          <p:cNvPr id="12" name="TextBox 11"/>
          <p:cNvSpPr txBox="1"/>
          <p:nvPr/>
        </p:nvSpPr>
        <p:spPr>
          <a:xfrm>
            <a:off x="731520" y="5486400"/>
            <a:ext cx="5029200" cy="1097280"/>
          </a:xfrm>
          <a:prstGeom prst="rect">
            <a:avLst/>
          </a:prstGeom>
          <a:noFill/>
        </p:spPr>
        <p:txBody>
          <a:bodyPr wrap="square">
            <a:spAutoFit/>
          </a:bodyPr>
          <a:lstStyle/>
          <a:p>
            <a:pPr>
              <a:spcAft>
                <a:spcPts val="600"/>
              </a:spcAft>
              <a:defRPr sz="1100">
                <a:solidFill>
                  <a:srgbClr val="7DD4D4"/>
                </a:solidFill>
                <a:latin typeface="Calibri"/>
              </a:defRPr>
            </a:pPr>
            <a:r>
              <a:t>Security audit -&gt; First researcher onboarded -&gt; YC/NEA product demo.</a:t>
            </a:r>
          </a:p>
          <a:p>
            <a:pPr>
              <a:spcAft>
                <a:spcPts val="600"/>
              </a:spcAft>
              <a:defRPr sz="1100">
                <a:solidFill>
                  <a:srgbClr val="7DD4D4"/>
                </a:solidFill>
                <a:latin typeface="Calibri"/>
              </a:defRPr>
            </a:pPr>
            <a:r>
              <a:t>50+ DAU -&gt; Living Blueprint v1 published -&gt; 10k queries/day sustained.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pic>
        <p:nvPicPr>
          <p:cNvPr id="2" name="Picture 1" descr="SynapTechLogo.png"/>
          <p:cNvPicPr>
            <a:picLocks noChangeAspect="1"/>
          </p:cNvPicPr>
          <p:nvPr/>
        </p:nvPicPr>
        <p:blipFill>
          <a:blip r:embed="rId2"/>
          <a:stretch>
            <a:fillRect/>
          </a:stretch>
        </p:blipFill>
        <p:spPr>
          <a:xfrm>
            <a:off x="6" y="2"/>
            <a:ext cx="1" cy="1"/>
          </a:xfrm>
          <a:prstGeom prst="rect">
            <a:avLst/>
          </a:prstGeom>
        </p:spPr>
      </p:pic>
      <p:sp>
        <p:nvSpPr>
          <p:cNvPr id="3" name="TextBox 2"/>
          <p:cNvSpPr txBox="1"/>
          <p:nvPr/>
        </p:nvSpPr>
        <p:spPr>
          <a:xfrm>
            <a:off x="914400" y="3657600"/>
            <a:ext cx="10058400" cy="914400"/>
          </a:xfrm>
          <a:prstGeom prst="rect">
            <a:avLst/>
          </a:prstGeom>
          <a:noFill/>
        </p:spPr>
        <p:txBody>
          <a:bodyPr wrap="square">
            <a:spAutoFit/>
          </a:bodyPr>
          <a:lstStyle/>
          <a:p>
            <a:pPr algn="ctr">
              <a:defRPr sz="2800" b="1">
                <a:solidFill>
                  <a:srgbClr val="FEFEFE"/>
                </a:solidFill>
                <a:latin typeface="Calibri"/>
              </a:defRPr>
            </a:pPr>
            <a:r>
              <a:t>Will the future of neuromorphic AI be locked in a corporate walled garden,</a:t>
            </a:r>
            <a:br/>
            <a:r>
              <a:t>or will it be a democratized neuromorphic commons belonging to humanity?</a:t>
            </a:r>
          </a:p>
        </p:txBody>
      </p:sp>
      <p:sp>
        <p:nvSpPr>
          <p:cNvPr id="4" name="TextBox 3"/>
          <p:cNvSpPr txBox="1"/>
          <p:nvPr/>
        </p:nvSpPr>
        <p:spPr>
          <a:xfrm>
            <a:off x="1828800" y="4754880"/>
            <a:ext cx="8229600" cy="457200"/>
          </a:xfrm>
          <a:prstGeom prst="rect">
            <a:avLst/>
          </a:prstGeom>
          <a:noFill/>
        </p:spPr>
        <p:txBody>
          <a:bodyPr wrap="square">
            <a:spAutoFit/>
          </a:bodyPr>
          <a:lstStyle/>
          <a:p>
            <a:pPr algn="ctr">
              <a:defRPr sz="1800" b="0">
                <a:solidFill>
                  <a:srgbClr val="54B3B3"/>
                </a:solidFill>
                <a:latin typeface="Calibri"/>
              </a:defRPr>
            </a:pPr>
            <a:r>
              <a:t>Join the Intellect Commons. The biological computing revolution begins now.</a:t>
            </a:r>
          </a:p>
        </p:txBody>
      </p:sp>
      <p:sp>
        <p:nvSpPr>
          <p:cNvPr id="5" name="TextBox 4"/>
          <p:cNvSpPr txBox="1"/>
          <p:nvPr/>
        </p:nvSpPr>
        <p:spPr>
          <a:xfrm>
            <a:off x="2743200" y="5486400"/>
            <a:ext cx="6400800" cy="457200"/>
          </a:xfrm>
          <a:prstGeom prst="rect">
            <a:avLst/>
          </a:prstGeom>
          <a:noFill/>
        </p:spPr>
        <p:txBody>
          <a:bodyPr wrap="square">
            <a:spAutoFit/>
          </a:bodyPr>
          <a:lstStyle/>
          <a:p>
            <a:pPr algn="ctr">
              <a:defRPr sz="2000" b="1">
                <a:solidFill>
                  <a:srgbClr val="E8C84A"/>
                </a:solidFill>
                <a:latin typeface="Calibri"/>
              </a:defRPr>
            </a:pPr>
            <a:r>
              <a:t>Introductory Sync - 15 Minutes</a:t>
            </a:r>
          </a:p>
        </p:txBody>
      </p:sp>
      <p:sp>
        <p:nvSpPr>
          <p:cNvPr id="6" name="TextBox 5"/>
          <p:cNvSpPr txBox="1"/>
          <p:nvPr/>
        </p:nvSpPr>
        <p:spPr>
          <a:xfrm>
            <a:off x="2743200" y="6035040"/>
            <a:ext cx="6400800" cy="365760"/>
          </a:xfrm>
          <a:prstGeom prst="rect">
            <a:avLst/>
          </a:prstGeom>
          <a:noFill/>
        </p:spPr>
        <p:txBody>
          <a:bodyPr wrap="square">
            <a:spAutoFit/>
          </a:bodyPr>
          <a:lstStyle/>
          <a:p>
            <a:pPr algn="ctr">
              <a:defRPr sz="1200" b="0">
                <a:solidFill>
                  <a:srgbClr val="7DD4D4"/>
                </a:solidFill>
                <a:latin typeface="Calibri"/>
              </a:defRPr>
            </a:pPr>
            <a:r>
              <a:t>Sami Torres, Founder &amp; CEO  |  SamiT2825@synaptechbio.org</a:t>
            </a: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