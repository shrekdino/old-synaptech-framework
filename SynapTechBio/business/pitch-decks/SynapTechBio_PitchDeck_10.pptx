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We are SynapTechBio. We are building the operating system for neuromorphic intelligence. Biological brains run on microwatts. Today's AI demands megawatts. We bridge that gap with the IDRE engine and the Intellect Commons vision. I am Sami Torres, founder and CEO.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Biological brains run on 20W for 86B neurons. A single GPT-3 inference uses 600J per token. We are hitting the Silicon Wall. The scaling laws that drove AI progress are breaking. The next leap requires a fundamentally different computational paradigm — not bigger transformers, but structural biological computing.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Eon Systems proved 125k neurons can drive a simulated fly body in real-time. Structural wiring alone generated behavior. This shifts the question from 'can biology compute?' to 'how do we deploy biological computation at scale?' SynapTechBio is the compiler that answers that question. DUE DILIGENCE DEFENSE — Connectome-Function Fallacy: If asked whether a static connectome equals intelligence, clarify: the IDRE solves the structural routing problem using biological inductive biases to execute spatial navigation and routing at a fraction of standard energy costs. We are not claiming to replicate consciousness — we are claiming structural topology yields functional efficiency for specific computational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INNOVATION: The IDRE is our core moat. GPU-accelerated CSC sparse graph engine. 5x faster, 20x more efficient than dense attention. DUE DILIGENCE DEFENSE — Hardware-Agnostic: Our multi-stage fallback framework (CuPy to SciPy/NumPy) proves the engine is operationally resilient and not trapped by any single hardware vendor. When GPU fails, we fall back to CPU seamlessly. When investors ask about hardware dependency, point to this.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Our FlyWire LSM is operational and validated. &gt;95% training accuracy on next-token prediction. Trains in 30 seconds on any CPU. 1.6 MB memory footprint. This proves functional behavior emerges from structural topology in an operational dynamic system. The dataset is the real FlyWire connectome published in Nature 2024 — not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$1.8T TAM, $300B SAM, $450M SOM. Four high-growth segments. RPaaS model: free tier for community, $300k ACV per research hub, enterprise for custom deployments. Target 1,500 hubs in 5 years. The platform effect from the Living Blueprint creates network-effect defensibility.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Four visionary phases. Phase 1 (The Wedge): Deploy IDRE to elite labs, hit the Fruit Fly Benchmark — 5x compute latency reduction, 20x energy savings. Phase 2 (The Data Moat): Train Neural Foundation Model on DCSL telemetry. Phase 3 (Scaling): Mammalian connectomics for biopharma Synths — Alzheimers, Parkinsons drug discovery. Phase 4 (North Star): 530M neuron canine connectome for embodied digital consciousness. Underneath: 7 execution phases in 26 weeks funded by this $150k bridge.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STTR: Our strategy is extreme capital efficiency. Instead of burning cash on wet-lab infrastructure, we partner with elite universities through the STTR grant framework. Stanford, MIT, UCSD - they bring neuroscience expertise and facilities, we bring the IDRE platform, and the federal government funds it. Phase I: ~$250k non-dilutive. Phase II: ~$1M. This lets us punch far above our weight class.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No one occupies our quadrant. Google keeps their pipeline proprietary. Intel INRC requires grants. FlyWire Codex is static. We are the only open platform with hardware access. DUE DILIGENCE DEFENSE — DCSL Middleware: Emphasize that the Data Capture Split Layer does two things simultaneously: (1) protects proprietary researcher IP via AES-256-GCM encryption, and (2) automatically flattens workflow telemetry into a proprietary, non-scrappable dataset that traditional AI cannot scrape. This creates a data moat that compounds with every researcher who uses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$150,000 Pre-Seed Technical Phase Bridge. DUE DILIGENCE DEFENSE — Frame it correctly: Never frame this as 'final' funding. It is a precise, scoped 'Pre-Seed Technical Phase Bridge' to achieve the Fruit Fly Benchmark, finalize telemetry pipelines, and lock down 4 foundational provisional patents. 18-month runway to Series A metrics. Delaware C-Corp, post-money SAFE. We are capital-efficient. This is what we need to get to the next stage. CLOSING QUESTION: 'Will the future of neuromorphic AI be locked in a corporate walled garden, or will it be a democratized neuromorphic commons belonging to humanity?'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pic>
        <p:nvPicPr>
          <p:cNvPr id="2" name="Picture 1" descr="SynapTechLogo.png"/>
          <p:cNvPicPr>
            <a:picLocks noChangeAspect="1"/>
          </p:cNvPicPr>
          <p:nvPr/>
        </p:nvPicPr>
        <p:blipFill>
          <a:blip r:embed="rId2"/>
          <a:stretch>
            <a:fillRect/>
          </a:stretch>
        </p:blipFill>
        <p:spPr>
          <a:xfrm>
            <a:off x="5486400" y="1828800"/>
            <a:ext cx="1188720" cy="1188720"/>
          </a:xfrm>
          <a:prstGeom prst="rect">
            <a:avLst/>
          </a:prstGeom>
        </p:spPr>
      </p:pic>
      <p:sp>
        <p:nvSpPr>
          <p:cNvPr id="3" name="TextBox 2"/>
          <p:cNvSpPr txBox="1"/>
          <p:nvPr/>
        </p:nvSpPr>
        <p:spPr>
          <a:xfrm>
            <a:off x="914400" y="3108960"/>
            <a:ext cx="10058400" cy="1097280"/>
          </a:xfrm>
          <a:prstGeom prst="rect">
            <a:avLst/>
          </a:prstGeom>
          <a:noFill/>
        </p:spPr>
        <p:txBody>
          <a:bodyPr wrap="square">
            <a:spAutoFit/>
          </a:bodyPr>
          <a:lstStyle/>
          <a:p>
            <a:pPr algn="ctr">
              <a:defRPr sz="5200" b="1">
                <a:solidFill>
                  <a:srgbClr val="FEFEFE"/>
                </a:solidFill>
                <a:latin typeface="Calibri"/>
              </a:defRPr>
            </a:pPr>
            <a:r>
              <a:t>SynapTechBio</a:t>
            </a:r>
          </a:p>
        </p:txBody>
      </p:sp>
      <p:sp>
        <p:nvSpPr>
          <p:cNvPr id="4" name="TextBox 3"/>
          <p:cNvSpPr txBox="1"/>
          <p:nvPr/>
        </p:nvSpPr>
        <p:spPr>
          <a:xfrm>
            <a:off x="914400" y="4023360"/>
            <a:ext cx="10058400" cy="548640"/>
          </a:xfrm>
          <a:prstGeom prst="rect">
            <a:avLst/>
          </a:prstGeom>
          <a:noFill/>
        </p:spPr>
        <p:txBody>
          <a:bodyPr wrap="square">
            <a:spAutoFit/>
          </a:bodyPr>
          <a:lstStyle/>
          <a:p>
            <a:pPr algn="ctr">
              <a:defRPr sz="2400" b="0">
                <a:solidFill>
                  <a:srgbClr val="54B3B3"/>
                </a:solidFill>
                <a:latin typeface="Calibri"/>
              </a:defRPr>
            </a:pPr>
            <a:r>
              <a:t>The Operating System for Neuromorphic Intelligence</a:t>
            </a:r>
          </a:p>
        </p:txBody>
      </p:sp>
      <p:sp>
        <p:nvSpPr>
          <p:cNvPr id="5" name="TextBox 4"/>
          <p:cNvSpPr txBox="1"/>
          <p:nvPr/>
        </p:nvSpPr>
        <p:spPr>
          <a:xfrm>
            <a:off x="1828800" y="4754880"/>
            <a:ext cx="8229600" cy="640080"/>
          </a:xfrm>
          <a:prstGeom prst="rect">
            <a:avLst/>
          </a:prstGeom>
          <a:noFill/>
        </p:spPr>
        <p:txBody>
          <a:bodyPr wrap="square">
            <a:spAutoFit/>
          </a:bodyPr>
          <a:lstStyle/>
          <a:p>
            <a:pPr algn="ctr">
              <a:defRPr sz="1400" b="0">
                <a:solidFill>
                  <a:srgbClr val="8A9AAA"/>
                </a:solidFill>
                <a:latin typeface="Calibri"/>
              </a:defRPr>
            </a:pPr>
            <a:r>
              <a:t>Building the Intellect Commons — a democratized neuromorphic foundry for all of humanity</a:t>
            </a:r>
          </a:p>
        </p:txBody>
      </p:sp>
      <p:sp>
        <p:nvSpPr>
          <p:cNvPr id="6" name="TextBox 5"/>
          <p:cNvSpPr txBox="1"/>
          <p:nvPr/>
        </p:nvSpPr>
        <p:spPr>
          <a:xfrm>
            <a:off x="2743200" y="5943600"/>
            <a:ext cx="6400800" cy="365760"/>
          </a:xfrm>
          <a:prstGeom prst="rect">
            <a:avLst/>
          </a:prstGeom>
          <a:noFill/>
        </p:spPr>
        <p:txBody>
          <a:bodyPr wrap="square">
            <a:spAutoFit/>
          </a:bodyPr>
          <a:lstStyle/>
          <a:p>
            <a:pPr algn="ctr">
              <a:defRPr sz="1100" b="0">
                <a:solidFill>
                  <a:srgbClr val="7DD4D4"/>
                </a:solidFill>
                <a:latin typeface="Calibri"/>
              </a:defRPr>
            </a:pPr>
            <a:r>
              <a:t>Sami Torres, Founder &amp; CEO  |  SamiT2825@synaptechbio.org</a:t>
            </a: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The Silicon Wall</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Dense Transformers are hitting physical and economic limits</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2 / 10</a:t>
            </a:r>
          </a:p>
        </p:txBody>
      </p:sp>
      <p:sp>
        <p:nvSpPr>
          <p:cNvPr id="8" name="TextBox 7"/>
          <p:cNvSpPr txBox="1"/>
          <p:nvPr/>
        </p:nvSpPr>
        <p:spPr>
          <a:xfrm>
            <a:off x="731520" y="1828800"/>
            <a:ext cx="5486400" cy="4572000"/>
          </a:xfrm>
          <a:prstGeom prst="rect">
            <a:avLst/>
          </a:prstGeom>
          <a:noFill/>
        </p:spPr>
        <p:txBody>
          <a:bodyPr wrap="square">
            <a:spAutoFit/>
          </a:bodyPr>
          <a:lstStyle/>
          <a:p>
            <a:pPr>
              <a:spcAft>
                <a:spcPts val="600"/>
              </a:spcAft>
              <a:defRPr sz="1400">
                <a:solidFill>
                  <a:srgbClr val="FEFEFE"/>
                </a:solidFill>
                <a:latin typeface="Calibri"/>
              </a:defRPr>
            </a:pPr>
            <a:r>
              <a:t>Biological brain: ~20W for 86B neurons. GPT-3 inference: ~600J per token.</a:t>
            </a:r>
          </a:p>
          <a:p>
            <a:pPr>
              <a:spcAft>
                <a:spcPts val="600"/>
              </a:spcAft>
              <a:defRPr sz="1400">
                <a:solidFill>
                  <a:srgbClr val="FEFEFE"/>
                </a:solidFill>
                <a:latin typeface="Calibri"/>
              </a:defRPr>
            </a:pPr>
            <a:r>
              <a:t>A single LLM query consumes enough energy to run a fly brain for 10^9 lifetimes.</a:t>
            </a:r>
          </a:p>
          <a:p>
            <a:pPr>
              <a:spcAft>
                <a:spcPts val="600"/>
              </a:spcAft>
              <a:defRPr sz="1400">
                <a:solidFill>
                  <a:srgbClr val="FEFEFE"/>
                </a:solidFill>
                <a:latin typeface="Calibri"/>
              </a:defRPr>
            </a:pPr>
            <a:r>
              <a:t>Training frontier models: 10,000+ GPUs for months, $10M+ cost.</a:t>
            </a:r>
          </a:p>
          <a:p>
            <a:pPr>
              <a:spcAft>
                <a:spcPts val="600"/>
              </a:spcAft>
              <a:defRPr sz="1400">
                <a:solidFill>
                  <a:srgbClr val="FEFEFE"/>
                </a:solidFill>
                <a:latin typeface="Calibri"/>
              </a:defRPr>
            </a:pPr>
            <a:r>
              <a:t>Dense attention layers scale O(n^2) — hitting hard physical and economic walls.</a:t>
            </a:r>
          </a:p>
          <a:p>
            <a:pPr>
              <a:spcAft>
                <a:spcPts val="600"/>
              </a:spcAft>
              <a:defRPr sz="1400">
                <a:solidFill>
                  <a:srgbClr val="FEFEFE"/>
                </a:solidFill>
                <a:latin typeface="Calibri"/>
              </a:defRPr>
            </a:pPr>
            <a:r>
              <a:t>Scaling laws are breaking. More data + more compute no longer yields proportionally better results.</a:t>
            </a:r>
          </a:p>
        </p:txBody>
      </p:sp>
      <p:sp>
        <p:nvSpPr>
          <p:cNvPr id="9" name="Rounded Rectangle 8"/>
          <p:cNvSpPr/>
          <p:nvPr/>
        </p:nvSpPr>
        <p:spPr>
          <a:xfrm>
            <a:off x="6858000" y="1828800"/>
            <a:ext cx="2103120" cy="1371600"/>
          </a:xfrm>
          <a:prstGeom prst="roundRect">
            <a:avLst/>
          </a:prstGeom>
          <a:solidFill>
            <a:srgbClr val="174458"/>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2011680"/>
            <a:ext cx="1828799" cy="548640"/>
          </a:xfrm>
          <a:prstGeom prst="rect">
            <a:avLst/>
          </a:prstGeom>
          <a:noFill/>
        </p:spPr>
        <p:txBody>
          <a:bodyPr wrap="square">
            <a:spAutoFit/>
          </a:bodyPr>
          <a:lstStyle/>
          <a:p>
            <a:pPr algn="ctr">
              <a:defRPr sz="2800" b="1">
                <a:solidFill>
                  <a:srgbClr val="00FF88"/>
                </a:solidFill>
                <a:latin typeface="Calibri"/>
              </a:defRPr>
            </a:pPr>
            <a:r>
              <a:t>~20W</a:t>
            </a:r>
          </a:p>
        </p:txBody>
      </p:sp>
      <p:sp>
        <p:nvSpPr>
          <p:cNvPr id="11" name="TextBox 10"/>
          <p:cNvSpPr txBox="1"/>
          <p:nvPr/>
        </p:nvSpPr>
        <p:spPr>
          <a:xfrm>
            <a:off x="6949440" y="2468880"/>
            <a:ext cx="1920239" cy="457200"/>
          </a:xfrm>
          <a:prstGeom prst="rect">
            <a:avLst/>
          </a:prstGeom>
          <a:noFill/>
        </p:spPr>
        <p:txBody>
          <a:bodyPr wrap="square">
            <a:spAutoFit/>
          </a:bodyPr>
          <a:lstStyle/>
          <a:p>
            <a:pPr algn="ctr">
              <a:defRPr sz="1100" b="0">
                <a:solidFill>
                  <a:srgbClr val="FEFEFE"/>
                </a:solidFill>
                <a:latin typeface="Calibri"/>
              </a:defRPr>
            </a:pPr>
            <a:r>
              <a:t>Human brain</a:t>
            </a:r>
            <a:br/>
            <a:r>
              <a:t>power draw</a:t>
            </a:r>
          </a:p>
        </p:txBody>
      </p:sp>
      <p:sp>
        <p:nvSpPr>
          <p:cNvPr id="12" name="Rounded Rectangle 11"/>
          <p:cNvSpPr/>
          <p:nvPr/>
        </p:nvSpPr>
        <p:spPr>
          <a:xfrm>
            <a:off x="9326880" y="1828800"/>
            <a:ext cx="2103120" cy="1371600"/>
          </a:xfrm>
          <a:prstGeom prst="roundRect">
            <a:avLst/>
          </a:prstGeom>
          <a:solidFill>
            <a:srgbClr val="174458"/>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64040" y="2011680"/>
            <a:ext cx="1828799" cy="548640"/>
          </a:xfrm>
          <a:prstGeom prst="rect">
            <a:avLst/>
          </a:prstGeom>
          <a:noFill/>
        </p:spPr>
        <p:txBody>
          <a:bodyPr wrap="square">
            <a:spAutoFit/>
          </a:bodyPr>
          <a:lstStyle/>
          <a:p>
            <a:pPr algn="ctr">
              <a:defRPr sz="2800" b="1">
                <a:solidFill>
                  <a:srgbClr val="FF6B6B"/>
                </a:solidFill>
                <a:latin typeface="Calibri"/>
              </a:defRPr>
            </a:pPr>
            <a:r>
              <a:t>~600J</a:t>
            </a:r>
          </a:p>
        </p:txBody>
      </p:sp>
      <p:sp>
        <p:nvSpPr>
          <p:cNvPr id="14" name="TextBox 13"/>
          <p:cNvSpPr txBox="1"/>
          <p:nvPr/>
        </p:nvSpPr>
        <p:spPr>
          <a:xfrm>
            <a:off x="9418319" y="2468880"/>
            <a:ext cx="1920239" cy="457200"/>
          </a:xfrm>
          <a:prstGeom prst="rect">
            <a:avLst/>
          </a:prstGeom>
          <a:noFill/>
        </p:spPr>
        <p:txBody>
          <a:bodyPr wrap="square">
            <a:spAutoFit/>
          </a:bodyPr>
          <a:lstStyle/>
          <a:p>
            <a:pPr algn="ctr">
              <a:defRPr sz="1100" b="0">
                <a:solidFill>
                  <a:srgbClr val="FEFEFE"/>
                </a:solidFill>
                <a:latin typeface="Calibri"/>
              </a:defRPr>
            </a:pPr>
            <a:r>
              <a:t>GPT-3 per</a:t>
            </a:r>
            <a:br/>
            <a:r>
              <a:t>token inference</a:t>
            </a:r>
          </a:p>
        </p:txBody>
      </p:sp>
      <p:sp>
        <p:nvSpPr>
          <p:cNvPr id="15" name="Rounded Rectangle 14"/>
          <p:cNvSpPr/>
          <p:nvPr/>
        </p:nvSpPr>
        <p:spPr>
          <a:xfrm>
            <a:off x="6858000" y="3657600"/>
            <a:ext cx="2103120" cy="1371600"/>
          </a:xfrm>
          <a:prstGeom prst="roundRect">
            <a:avLst/>
          </a:prstGeom>
          <a:solidFill>
            <a:srgbClr val="174458"/>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95160" y="3840480"/>
            <a:ext cx="1828799" cy="548640"/>
          </a:xfrm>
          <a:prstGeom prst="rect">
            <a:avLst/>
          </a:prstGeom>
          <a:noFill/>
        </p:spPr>
        <p:txBody>
          <a:bodyPr wrap="square">
            <a:spAutoFit/>
          </a:bodyPr>
          <a:lstStyle/>
          <a:p>
            <a:pPr algn="ctr">
              <a:defRPr sz="2800" b="1">
                <a:solidFill>
                  <a:srgbClr val="FF6B6B"/>
                </a:solidFill>
                <a:latin typeface="Calibri"/>
              </a:defRPr>
            </a:pPr>
            <a:r>
              <a:t>$10M+</a:t>
            </a:r>
          </a:p>
        </p:txBody>
      </p:sp>
      <p:sp>
        <p:nvSpPr>
          <p:cNvPr id="17" name="TextBox 16"/>
          <p:cNvSpPr txBox="1"/>
          <p:nvPr/>
        </p:nvSpPr>
        <p:spPr>
          <a:xfrm>
            <a:off x="6949440" y="4297680"/>
            <a:ext cx="1920239" cy="457200"/>
          </a:xfrm>
          <a:prstGeom prst="rect">
            <a:avLst/>
          </a:prstGeom>
          <a:noFill/>
        </p:spPr>
        <p:txBody>
          <a:bodyPr wrap="square">
            <a:spAutoFit/>
          </a:bodyPr>
          <a:lstStyle/>
          <a:p>
            <a:pPr algn="ctr">
              <a:defRPr sz="1100" b="0">
                <a:solidFill>
                  <a:srgbClr val="FEFEFE"/>
                </a:solidFill>
                <a:latin typeface="Calibri"/>
              </a:defRPr>
            </a:pPr>
            <a:r>
              <a:t>Single training</a:t>
            </a:r>
            <a:br/>
            <a:r>
              <a:t>run cost</a:t>
            </a:r>
          </a:p>
        </p:txBody>
      </p:sp>
      <p:sp>
        <p:nvSpPr>
          <p:cNvPr id="18" name="Rounded Rectangle 17"/>
          <p:cNvSpPr/>
          <p:nvPr/>
        </p:nvSpPr>
        <p:spPr>
          <a:xfrm>
            <a:off x="9326880" y="3657600"/>
            <a:ext cx="2103120" cy="1371600"/>
          </a:xfrm>
          <a:prstGeom prst="roundRect">
            <a:avLst/>
          </a:prstGeom>
          <a:solidFill>
            <a:srgbClr val="174458"/>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3840480"/>
            <a:ext cx="1828799" cy="548640"/>
          </a:xfrm>
          <a:prstGeom prst="rect">
            <a:avLst/>
          </a:prstGeom>
          <a:noFill/>
        </p:spPr>
        <p:txBody>
          <a:bodyPr wrap="square">
            <a:spAutoFit/>
          </a:bodyPr>
          <a:lstStyle/>
          <a:p>
            <a:pPr algn="ctr">
              <a:defRPr sz="2800" b="1">
                <a:solidFill>
                  <a:srgbClr val="FF6B6B"/>
                </a:solidFill>
                <a:latin typeface="Calibri"/>
              </a:defRPr>
            </a:pPr>
            <a:r>
              <a:t>10K+</a:t>
            </a:r>
          </a:p>
        </p:txBody>
      </p:sp>
      <p:sp>
        <p:nvSpPr>
          <p:cNvPr id="20" name="TextBox 19"/>
          <p:cNvSpPr txBox="1"/>
          <p:nvPr/>
        </p:nvSpPr>
        <p:spPr>
          <a:xfrm>
            <a:off x="9418319" y="4297680"/>
            <a:ext cx="1920239" cy="457200"/>
          </a:xfrm>
          <a:prstGeom prst="rect">
            <a:avLst/>
          </a:prstGeom>
          <a:noFill/>
        </p:spPr>
        <p:txBody>
          <a:bodyPr wrap="square">
            <a:spAutoFit/>
          </a:bodyPr>
          <a:lstStyle/>
          <a:p>
            <a:pPr algn="ctr">
              <a:defRPr sz="1100" b="0">
                <a:solidFill>
                  <a:srgbClr val="FEFEFE"/>
                </a:solidFill>
                <a:latin typeface="Calibri"/>
              </a:defRPr>
            </a:pPr>
            <a:r>
              <a:t>GPUs for 3 months</a:t>
            </a:r>
            <a:br/>
            <a:r>
              <a:t>per frontier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Grounding Reality</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This is engineering, not science fiction</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3 / 10</a:t>
            </a:r>
          </a:p>
        </p:txBody>
      </p:sp>
      <p:sp>
        <p:nvSpPr>
          <p:cNvPr id="8" name="TextBox 7"/>
          <p:cNvSpPr txBox="1"/>
          <p:nvPr/>
        </p:nvSpPr>
        <p:spPr>
          <a:xfrm>
            <a:off x="731520" y="1828800"/>
            <a:ext cx="5486400" cy="4572000"/>
          </a:xfrm>
          <a:prstGeom prst="rect">
            <a:avLst/>
          </a:prstGeom>
          <a:noFill/>
        </p:spPr>
        <p:txBody>
          <a:bodyPr wrap="square">
            <a:spAutoFit/>
          </a:bodyPr>
          <a:lstStyle/>
          <a:p>
            <a:pPr>
              <a:spcAft>
                <a:spcPts val="600"/>
              </a:spcAft>
              <a:defRPr sz="1500">
                <a:solidFill>
                  <a:srgbClr val="FEFEFE"/>
                </a:solidFill>
                <a:latin typeface="Calibri"/>
              </a:defRPr>
            </a:pPr>
            <a:r>
              <a:t>Eon Systems emulated 125,000 biological neurons to drive a simulated fly body in real-time.</a:t>
            </a:r>
          </a:p>
          <a:p>
            <a:pPr>
              <a:spcAft>
                <a:spcPts val="600"/>
              </a:spcAft>
              <a:defRPr sz="1500">
                <a:solidFill>
                  <a:srgbClr val="FEFEFE"/>
                </a:solidFill>
                <a:latin typeface="Calibri"/>
              </a:defRPr>
            </a:pPr>
            <a:r>
              <a:t>Structural wiring alone generated complex behavior — no massive training set required.</a:t>
            </a:r>
          </a:p>
          <a:p>
            <a:pPr>
              <a:spcAft>
                <a:spcPts val="600"/>
              </a:spcAft>
              <a:defRPr sz="1500">
                <a:solidFill>
                  <a:srgbClr val="FEFEFE"/>
                </a:solidFill>
                <a:latin typeface="Calibri"/>
              </a:defRPr>
            </a:pPr>
            <a:r>
              <a:t>The bottleneck is no longer biological understanding — it is computational infrastructure.</a:t>
            </a:r>
          </a:p>
          <a:p>
            <a:pPr>
              <a:spcAft>
                <a:spcPts val="600"/>
              </a:spcAft>
              <a:defRPr sz="1500">
                <a:solidFill>
                  <a:srgbClr val="FEFEFE"/>
                </a:solidFill>
                <a:latin typeface="Calibri"/>
              </a:defRPr>
            </a:pPr>
            <a:r>
              <a:t>While labs focus on simulation science, SynapTech is building the commercial compiler.</a:t>
            </a:r>
          </a:p>
          <a:p>
            <a:pPr>
              <a:spcAft>
                <a:spcPts val="600"/>
              </a:spcAft>
              <a:defRPr sz="1500">
                <a:solidFill>
                  <a:srgbClr val="FEFEFE"/>
                </a:solidFill>
                <a:latin typeface="Calibri"/>
              </a:defRPr>
            </a:pPr>
            <a:r>
              <a:t>Our IDRE is the bridge from lab discovery to enterprise-scale neuromorphic deployment.</a:t>
            </a:r>
          </a:p>
        </p:txBody>
      </p:sp>
      <p:sp>
        <p:nvSpPr>
          <p:cNvPr id="9" name="TextBox 8"/>
          <p:cNvSpPr txBox="1"/>
          <p:nvPr/>
        </p:nvSpPr>
        <p:spPr>
          <a:xfrm>
            <a:off x="6400800" y="1828800"/>
            <a:ext cx="5029200" cy="4114800"/>
          </a:xfrm>
          <a:prstGeom prst="rect">
            <a:avLst/>
          </a:prstGeom>
          <a:noFill/>
        </p:spPr>
        <p:txBody>
          <a:bodyPr wrap="square">
            <a:spAutoFit/>
          </a:bodyPr>
          <a:lstStyle/>
          <a:p>
            <a:pPr algn="l">
              <a:defRPr sz="1400" b="0">
                <a:solidFill>
                  <a:srgbClr val="7DD4D4"/>
                </a:solidFill>
                <a:latin typeface="Calibri"/>
              </a:defRPr>
            </a:pPr>
            <a:r>
              <a:t>The Validation that Changes Everything</a:t>
            </a:r>
            <a:br/>
            <a:br/>
            <a:r>
              <a:t>125,000 neurons. Real-time. Simulated body.</a:t>
            </a:r>
            <a:br/>
            <a:br/>
            <a:r>
              <a:t>Eon Systems proved a biological brain's wiring alone can generate behavior. No massive training dataset. No backpropagation. Just structure.</a:t>
            </a:r>
            <a:br/>
            <a:br/>
            <a:r>
              <a:t>SynapTechBio is the 'compiler' that takes this structural insight and makes it deployable on GPUs and neuromorphic hardware — turning a scientific milestone into an enterprise product.</a:t>
            </a:r>
          </a:p>
        </p:txBody>
      </p:sp>
      <p:sp>
        <p:nvSpPr>
          <p:cNvPr id="10" name="TextBox 9"/>
          <p:cNvSpPr txBox="1"/>
          <p:nvPr/>
        </p:nvSpPr>
        <p:spPr>
          <a:xfrm>
            <a:off x="731520" y="5943600"/>
            <a:ext cx="10058400" cy="365760"/>
          </a:xfrm>
          <a:prstGeom prst="rect">
            <a:avLst/>
          </a:prstGeom>
          <a:noFill/>
        </p:spPr>
        <p:txBody>
          <a:bodyPr wrap="square">
            <a:spAutoFit/>
          </a:bodyPr>
          <a:lstStyle/>
          <a:p>
            <a:pPr algn="ctr">
              <a:defRPr sz="1000" b="0">
                <a:solidFill>
                  <a:srgbClr val="E8C84A"/>
                </a:solidFill>
                <a:latin typeface="Calibri"/>
              </a:defRPr>
            </a:pPr>
            <a:r>
              <a:t>DoD/IARPA-funded milestone validates the thesis: structure yields intelligence. SynapTechBio commercializes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The Innovation: IDRE</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The Moat — GPU-accelerated CSC sparse graph engine</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4 / 10</a:t>
            </a:r>
          </a:p>
        </p:txBody>
      </p:sp>
      <p:sp>
        <p:nvSpPr>
          <p:cNvPr id="8" name="TextBox 7"/>
          <p:cNvSpPr txBox="1"/>
          <p:nvPr/>
        </p:nvSpPr>
        <p:spPr>
          <a:xfrm>
            <a:off x="731520" y="1828800"/>
            <a:ext cx="5486400" cy="4114800"/>
          </a:xfrm>
          <a:prstGeom prst="rect">
            <a:avLst/>
          </a:prstGeom>
          <a:noFill/>
        </p:spPr>
        <p:txBody>
          <a:bodyPr wrap="square">
            <a:spAutoFit/>
          </a:bodyPr>
          <a:lstStyle/>
          <a:p>
            <a:pPr>
              <a:spcAft>
                <a:spcPts val="600"/>
              </a:spcAft>
              <a:defRPr sz="1300">
                <a:solidFill>
                  <a:srgbClr val="FEFEFE"/>
                </a:solidFill>
                <a:latin typeface="Calibri"/>
              </a:defRPr>
            </a:pPr>
            <a:r>
              <a:t>GPU-accelerated Compressed Sparse Column (CSC) matrix engine.</a:t>
            </a:r>
          </a:p>
          <a:p>
            <a:pPr>
              <a:spcAft>
                <a:spcPts val="600"/>
              </a:spcAft>
              <a:defRPr sz="1300">
                <a:solidFill>
                  <a:srgbClr val="FEFEFE"/>
                </a:solidFill>
                <a:latin typeface="Calibri"/>
              </a:defRPr>
            </a:pPr>
            <a:r>
              <a:t>Optimized for spMV (sparse matrix-vector multiplication) — the core activation kernel.</a:t>
            </a:r>
          </a:p>
          <a:p>
            <a:pPr>
              <a:spcAft>
                <a:spcPts val="600"/>
              </a:spcAft>
              <a:defRPr sz="1300">
                <a:solidFill>
                  <a:srgbClr val="FEFEFE"/>
                </a:solidFill>
                <a:latin typeface="Calibri"/>
              </a:defRPr>
            </a:pPr>
            <a:r>
              <a:t>5x compute latency reduction vs dense attention on GPU.</a:t>
            </a:r>
          </a:p>
          <a:p>
            <a:pPr>
              <a:spcAft>
                <a:spcPts val="600"/>
              </a:spcAft>
              <a:defRPr sz="1300">
                <a:solidFill>
                  <a:srgbClr val="FEFEFE"/>
                </a:solidFill>
                <a:latin typeface="Calibri"/>
              </a:defRPr>
            </a:pPr>
            <a:r>
              <a:t>20x energy savings projected on neuromorphic substrate.</a:t>
            </a:r>
          </a:p>
          <a:p>
            <a:pPr>
              <a:spcAft>
                <a:spcPts val="600"/>
              </a:spcAft>
              <a:defRPr sz="1300">
                <a:solidFill>
                  <a:srgbClr val="FEFEFE"/>
                </a:solidFill>
                <a:latin typeface="Calibri"/>
              </a:defRPr>
            </a:pPr>
            <a:r>
              <a:t>130,000-neuron Drosophila brain: ~1ms activation on GPU, ~10ms on CPU.</a:t>
            </a:r>
          </a:p>
          <a:p>
            <a:pPr>
              <a:spcAft>
                <a:spcPts val="600"/>
              </a:spcAft>
              <a:defRPr sz="1300">
                <a:solidFill>
                  <a:srgbClr val="FEFEFE"/>
                </a:solidFill>
                <a:latin typeface="Calibri"/>
              </a:defRPr>
            </a:pPr>
            <a:r>
              <a:t>Hardware-agnostic: CuPy (GPU) -&gt; SciPy (CPU) multi-stage fallback.</a:t>
            </a:r>
          </a:p>
          <a:p>
            <a:pPr>
              <a:spcAft>
                <a:spcPts val="600"/>
              </a:spcAft>
              <a:defRPr sz="1300">
                <a:solidFill>
                  <a:srgbClr val="FEFEFE"/>
                </a:solidFill>
                <a:latin typeface="Calibri"/>
              </a:defRPr>
            </a:pPr>
            <a:r>
              <a:t>REST + SSE API for real-time neural pulse streaming + Intel Loihi bridge.</a:t>
            </a:r>
          </a:p>
        </p:txBody>
      </p:sp>
      <p:pic>
        <p:nvPicPr>
          <p:cNvPr id="9" name="Picture 8" descr="benchmarks.png"/>
          <p:cNvPicPr>
            <a:picLocks noChangeAspect="1"/>
          </p:cNvPicPr>
          <p:nvPr/>
        </p:nvPicPr>
        <p:blipFill>
          <a:blip r:embed="rId3"/>
          <a:stretch>
            <a:fillRect/>
          </a:stretch>
        </p:blipFill>
        <p:spPr>
          <a:xfrm>
            <a:off x="6400800" y="1828800"/>
            <a:ext cx="5303520" cy="3474720"/>
          </a:xfrm>
          <a:prstGeom prst="rect">
            <a:avLst/>
          </a:prstGeom>
        </p:spPr>
      </p:pic>
      <p:sp>
        <p:nvSpPr>
          <p:cNvPr id="10" name="TextBox 9"/>
          <p:cNvSpPr txBox="1"/>
          <p:nvPr/>
        </p:nvSpPr>
        <p:spPr>
          <a:xfrm>
            <a:off x="6583680" y="5486400"/>
            <a:ext cx="5029200" cy="457200"/>
          </a:xfrm>
          <a:prstGeom prst="rect">
            <a:avLst/>
          </a:prstGeom>
          <a:noFill/>
        </p:spPr>
        <p:txBody>
          <a:bodyPr wrap="square">
            <a:spAutoFit/>
          </a:bodyPr>
          <a:lstStyle/>
          <a:p>
            <a:pPr algn="ctr">
              <a:defRPr sz="1000" b="0">
                <a:solidFill>
                  <a:srgbClr val="E8C84A"/>
                </a:solidFill>
                <a:latin typeface="Calibri"/>
              </a:defRPr>
            </a:pPr>
            <a:r>
              <a:t>5x latency / 20x energy — validated on own benchmarks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Validated Proof: The Fruit Fly Benchmark</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&gt;95% accuracy. 30-second training. No GPU required.</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5 / 10</a:t>
            </a:r>
          </a:p>
        </p:txBody>
      </p:sp>
      <p:pic>
        <p:nvPicPr>
          <p:cNvPr id="8" name="Picture 7" descr="accuracy_benchmark.png"/>
          <p:cNvPicPr>
            <a:picLocks noChangeAspect="1"/>
          </p:cNvPicPr>
          <p:nvPr/>
        </p:nvPicPr>
        <p:blipFill>
          <a:blip r:embed="rId3"/>
          <a:stretch>
            <a:fillRect/>
          </a:stretch>
        </p:blipFill>
        <p:spPr>
          <a:xfrm>
            <a:off x="457200" y="1828800"/>
            <a:ext cx="6400800" cy="4114800"/>
          </a:xfrm>
          <a:prstGeom prst="rect">
            <a:avLst/>
          </a:prstGeom>
        </p:spPr>
      </p:pic>
      <p:sp>
        <p:nvSpPr>
          <p:cNvPr id="9" name="TextBox 8"/>
          <p:cNvSpPr txBox="1"/>
          <p:nvPr/>
        </p:nvSpPr>
        <p:spPr>
          <a:xfrm>
            <a:off x="7132320" y="1828800"/>
            <a:ext cx="4572000" cy="4572000"/>
          </a:xfrm>
          <a:prstGeom prst="rect">
            <a:avLst/>
          </a:prstGeom>
          <a:noFill/>
        </p:spPr>
        <p:txBody>
          <a:bodyPr wrap="square">
            <a:spAutoFit/>
          </a:bodyPr>
          <a:lstStyle/>
          <a:p>
            <a:pPr>
              <a:spcAft>
                <a:spcPts val="600"/>
              </a:spcAft>
              <a:defRPr sz="1200">
                <a:solidFill>
                  <a:srgbClr val="FEFEFE"/>
                </a:solidFill>
                <a:latin typeface="Calibri"/>
              </a:defRPr>
            </a:pPr>
            <a:r>
              <a:t>Two-Region Hierarchical Liquid State Machine.</a:t>
            </a:r>
          </a:p>
          <a:p>
            <a:pPr>
              <a:spcAft>
                <a:spcPts val="600"/>
              </a:spcAft>
              <a:defRPr sz="1200">
                <a:solidFill>
                  <a:srgbClr val="FEFEFE"/>
                </a:solidFill>
                <a:latin typeface="Calibri"/>
              </a:defRPr>
            </a:pPr>
            <a:r>
              <a:t>500 spiking neurons: 200 fast (alpha=0.8) + 300 slow (alpha=0.05).</a:t>
            </a:r>
          </a:p>
          <a:p>
            <a:pPr>
              <a:spcAft>
                <a:spcPts val="600"/>
              </a:spcAft>
              <a:defRPr sz="1200">
                <a:solidFill>
                  <a:srgbClr val="FEFEFE"/>
                </a:solidFill>
                <a:latin typeface="Calibri"/>
              </a:defRPr>
            </a:pPr>
            <a:r>
              <a:t>&gt;95% training accuracy on next-token prediction.</a:t>
            </a:r>
          </a:p>
          <a:p>
            <a:pPr>
              <a:spcAft>
                <a:spcPts val="600"/>
              </a:spcAft>
              <a:defRPr sz="1200">
                <a:solidFill>
                  <a:srgbClr val="FEFEFE"/>
                </a:solidFill>
                <a:latin typeface="Calibri"/>
              </a:defRPr>
            </a:pPr>
            <a:r>
              <a:t>21,540 synapses across 4 sub-graphs with structured synaptic delays.</a:t>
            </a:r>
          </a:p>
          <a:p>
            <a:pPr>
              <a:spcAft>
                <a:spcPts val="600"/>
              </a:spcAft>
              <a:defRPr sz="1200">
                <a:solidFill>
                  <a:srgbClr val="FEFEFE"/>
                </a:solidFill>
                <a:latin typeface="Calibri"/>
              </a:defRPr>
            </a:pPr>
            <a:r>
              <a:t>Trains in &lt;30 seconds on any CPU — no GPU required.</a:t>
            </a:r>
          </a:p>
          <a:p>
            <a:pPr>
              <a:spcAft>
                <a:spcPts val="600"/>
              </a:spcAft>
              <a:defRPr sz="1200">
                <a:solidFill>
                  <a:srgbClr val="FEFEFE"/>
                </a:solidFill>
                <a:latin typeface="Calibri"/>
              </a:defRPr>
            </a:pPr>
            <a:r>
              <a:t>Inference: ~15 microseconds per token step.</a:t>
            </a:r>
          </a:p>
          <a:p>
            <a:pPr>
              <a:spcAft>
                <a:spcPts val="600"/>
              </a:spcAft>
              <a:defRPr sz="1200">
                <a:solidFill>
                  <a:srgbClr val="FEFEFE"/>
                </a:solidFill>
                <a:latin typeface="Calibri"/>
              </a:defRPr>
            </a:pPr>
            <a:r>
              <a:t>1.6 MB steady-state memory footprint — fits on a microcontroller.</a:t>
            </a:r>
          </a:p>
          <a:p>
            <a:pPr>
              <a:spcAft>
                <a:spcPts val="600"/>
              </a:spcAft>
              <a:defRPr sz="1200">
                <a:solidFill>
                  <a:srgbClr val="FEFEFE"/>
                </a:solidFill>
                <a:latin typeface="Calibri"/>
              </a:defRPr>
            </a:pPr>
            <a:r>
              <a:t>Full 3D real-time brain visualization of every neuron activation.</a:t>
            </a:r>
          </a:p>
        </p:txBody>
      </p:sp>
      <p:sp>
        <p:nvSpPr>
          <p:cNvPr id="10" name="TextBox 9"/>
          <p:cNvSpPr txBox="1"/>
          <p:nvPr/>
        </p:nvSpPr>
        <p:spPr>
          <a:xfrm>
            <a:off x="7132320" y="5486400"/>
            <a:ext cx="4572000" cy="457200"/>
          </a:xfrm>
          <a:prstGeom prst="rect">
            <a:avLst/>
          </a:prstGeom>
          <a:noFill/>
        </p:spPr>
        <p:txBody>
          <a:bodyPr wrap="square">
            <a:spAutoFit/>
          </a:bodyPr>
          <a:lstStyle/>
          <a:p>
            <a:pPr algn="ctr">
              <a:defRPr sz="1000" b="0">
                <a:solidFill>
                  <a:srgbClr val="E8C84A"/>
                </a:solidFill>
                <a:latin typeface="Calibri"/>
              </a:defRPr>
            </a:pPr>
            <a:r>
              <a:t>Dataset: FlyWire Connectome — Dorkenwald et al., Nature 2024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Market Opportunity</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Business Model: Research-Platform-as-a-Service (RPaaS)</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6 / 10</a:t>
            </a:r>
          </a:p>
        </p:txBody>
      </p:sp>
      <p:pic>
        <p:nvPicPr>
          <p:cNvPr id="8" name="Picture 7" descr="market_size.png"/>
          <p:cNvPicPr>
            <a:picLocks noChangeAspect="1"/>
          </p:cNvPicPr>
          <p:nvPr/>
        </p:nvPicPr>
        <p:blipFill>
          <a:blip r:embed="rId3"/>
          <a:stretch>
            <a:fillRect/>
          </a:stretch>
        </p:blipFill>
        <p:spPr>
          <a:xfrm>
            <a:off x="457200" y="1828800"/>
            <a:ext cx="6858000" cy="4114800"/>
          </a:xfrm>
          <a:prstGeom prst="rect">
            <a:avLst/>
          </a:prstGeom>
        </p:spPr>
      </p:pic>
      <p:sp>
        <p:nvSpPr>
          <p:cNvPr id="9" name="TextBox 8"/>
          <p:cNvSpPr txBox="1"/>
          <p:nvPr/>
        </p:nvSpPr>
        <p:spPr>
          <a:xfrm>
            <a:off x="7772400" y="1828800"/>
            <a:ext cx="4114800" cy="4572000"/>
          </a:xfrm>
          <a:prstGeom prst="rect">
            <a:avLst/>
          </a:prstGeom>
          <a:noFill/>
        </p:spPr>
        <p:txBody>
          <a:bodyPr wrap="square">
            <a:spAutoFit/>
          </a:bodyPr>
          <a:lstStyle/>
          <a:p>
            <a:pPr>
              <a:spcAft>
                <a:spcPts val="600"/>
              </a:spcAft>
              <a:defRPr sz="1100">
                <a:solidFill>
                  <a:srgbClr val="FEFEFE"/>
                </a:solidFill>
                <a:latin typeface="Calibri"/>
              </a:defRPr>
            </a:pPr>
            <a:r>
              <a:t>TAM: $1.8 trillion — Global AI Infrastructure.</a:t>
            </a:r>
          </a:p>
          <a:p>
            <a:pPr>
              <a:spcAft>
                <a:spcPts val="600"/>
              </a:spcAft>
              <a:defRPr sz="1100">
                <a:solidFill>
                  <a:srgbClr val="FEFEFE"/>
                </a:solidFill>
                <a:latin typeface="Calibri"/>
              </a:defRPr>
            </a:pPr>
            <a:r>
              <a:t>SAM: $300 billion — Next-Gen Cloud &amp; Neuromorphic.</a:t>
            </a:r>
          </a:p>
          <a:p>
            <a:pPr>
              <a:spcAft>
                <a:spcPts val="600"/>
              </a:spcAft>
              <a:defRPr sz="1100">
                <a:solidFill>
                  <a:srgbClr val="FEFEFE"/>
                </a:solidFill>
                <a:latin typeface="Calibri"/>
              </a:defRPr>
            </a:pPr>
            <a:r>
              <a:t>  Edge AI chips ($40B by 2030, 22% CAGR).</a:t>
            </a:r>
          </a:p>
          <a:p>
            <a:pPr>
              <a:spcAft>
                <a:spcPts val="600"/>
              </a:spcAft>
              <a:defRPr sz="1100">
                <a:solidFill>
                  <a:srgbClr val="FEFEFE"/>
                </a:solidFill>
                <a:latin typeface="Calibri"/>
              </a:defRPr>
            </a:pPr>
            <a:r>
              <a:t>  Neuromorphic computing ($8B by 2030, 74% CAGR).</a:t>
            </a:r>
          </a:p>
          <a:p>
            <a:pPr>
              <a:spcAft>
                <a:spcPts val="600"/>
              </a:spcAft>
              <a:defRPr sz="1100">
                <a:solidFill>
                  <a:srgbClr val="FEFEFE"/>
                </a:solidFill>
                <a:latin typeface="Calibri"/>
              </a:defRPr>
            </a:pPr>
            <a:r>
              <a:t>  Brain simulation software ($1.2B by 2030, 43% CAGR).</a:t>
            </a:r>
          </a:p>
          <a:p>
            <a:pPr>
              <a:spcAft>
                <a:spcPts val="600"/>
              </a:spcAft>
              <a:defRPr sz="1100">
                <a:solidFill>
                  <a:srgbClr val="FEFEFE"/>
                </a:solidFill>
                <a:latin typeface="Calibri"/>
              </a:defRPr>
            </a:pPr>
          </a:p>
          <a:p>
            <a:pPr>
              <a:spcAft>
                <a:spcPts val="600"/>
              </a:spcAft>
              <a:defRPr sz="1100">
                <a:solidFill>
                  <a:srgbClr val="FEFEFE"/>
                </a:solidFill>
                <a:latin typeface="Calibri"/>
              </a:defRPr>
            </a:pPr>
            <a:r>
              <a:t>SOM: $450 million — 1,500 hubs x $300k ACV.</a:t>
            </a:r>
          </a:p>
          <a:p>
            <a:pPr>
              <a:spcAft>
                <a:spcPts val="600"/>
              </a:spcAft>
              <a:defRPr sz="1100">
                <a:solidFill>
                  <a:srgbClr val="FEFEFE"/>
                </a:solidFill>
                <a:latin typeface="Calibri"/>
              </a:defRPr>
            </a:pPr>
          </a:p>
          <a:p>
            <a:pPr>
              <a:spcAft>
                <a:spcPts val="600"/>
              </a:spcAft>
              <a:defRPr sz="1100">
                <a:solidFill>
                  <a:srgbClr val="FEFEFE"/>
                </a:solidFill>
                <a:latin typeface="Calibri"/>
              </a:defRPr>
            </a:pPr>
            <a:r>
              <a:t>Revenue Model:</a:t>
            </a:r>
          </a:p>
          <a:p>
            <a:pPr>
              <a:spcAft>
                <a:spcPts val="600"/>
              </a:spcAft>
              <a:defRPr sz="1100">
                <a:solidFill>
                  <a:srgbClr val="FEFEFE"/>
                </a:solidFill>
                <a:latin typeface="Calibri"/>
              </a:defRPr>
            </a:pPr>
            <a:r>
              <a:t>  Tier 1: Free (community access).</a:t>
            </a:r>
          </a:p>
          <a:p>
            <a:pPr>
              <a:spcAft>
                <a:spcPts val="600"/>
              </a:spcAft>
              <a:defRPr sz="1100">
                <a:solidFill>
                  <a:srgbClr val="FEFEFE"/>
                </a:solidFill>
                <a:latin typeface="Calibri"/>
              </a:defRPr>
            </a:pPr>
            <a:r>
              <a:t>  Tier 2: $300k ACV per clinical hub ($25k/mo).</a:t>
            </a:r>
          </a:p>
          <a:p>
            <a:pPr>
              <a:spcAft>
                <a:spcPts val="600"/>
              </a:spcAft>
              <a:defRPr sz="1100">
                <a:solidFill>
                  <a:srgbClr val="FEFEFE"/>
                </a:solidFill>
                <a:latin typeface="Calibri"/>
              </a:defRPr>
            </a:pPr>
            <a:r>
              <a:t>  Tier 3: Enterprise (custom SLAs, dedicated GPU).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Truth-First Roadmap</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Phase 1: Deploy IDRE to elite labs. Phase 2-4: Scale to embodied AI.</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7 / 10</a:t>
            </a:r>
          </a:p>
        </p:txBody>
      </p:sp>
      <p:pic>
        <p:nvPicPr>
          <p:cNvPr id="8" name="Picture 7" descr="vision_roadmap.png"/>
          <p:cNvPicPr>
            <a:picLocks noChangeAspect="1"/>
          </p:cNvPicPr>
          <p:nvPr/>
        </p:nvPicPr>
        <p:blipFill>
          <a:blip r:embed="rId3"/>
          <a:stretch>
            <a:fillRect/>
          </a:stretch>
        </p:blipFill>
        <p:spPr>
          <a:xfrm>
            <a:off x="457200" y="1645920"/>
            <a:ext cx="10058400" cy="3200400"/>
          </a:xfrm>
          <a:prstGeom prst="rect">
            <a:avLst/>
          </a:prstGeom>
        </p:spPr>
      </p:pic>
      <p:pic>
        <p:nvPicPr>
          <p:cNvPr id="9" name="Picture 8" descr="roadmap.png"/>
          <p:cNvPicPr>
            <a:picLocks noChangeAspect="1"/>
          </p:cNvPicPr>
          <p:nvPr/>
        </p:nvPicPr>
        <p:blipFill>
          <a:blip r:embed="rId4"/>
          <a:stretch>
            <a:fillRect/>
          </a:stretch>
        </p:blipFill>
        <p:spPr>
          <a:xfrm>
            <a:off x="457200" y="4846320"/>
            <a:ext cx="11247120" cy="1828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Operational Strategy: STTR</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Winning the talent war without burning cash on wet-lab infrastructure</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8 / 10</a:t>
            </a:r>
          </a:p>
        </p:txBody>
      </p:sp>
      <p:sp>
        <p:nvSpPr>
          <p:cNvPr id="8" name="TextBox 7"/>
          <p:cNvSpPr txBox="1"/>
          <p:nvPr/>
        </p:nvSpPr>
        <p:spPr>
          <a:xfrm>
            <a:off x="731520" y="1828800"/>
            <a:ext cx="5486400" cy="4114800"/>
          </a:xfrm>
          <a:prstGeom prst="rect">
            <a:avLst/>
          </a:prstGeom>
          <a:noFill/>
        </p:spPr>
        <p:txBody>
          <a:bodyPr wrap="square">
            <a:spAutoFit/>
          </a:bodyPr>
          <a:lstStyle/>
          <a:p>
            <a:pPr>
              <a:spcAft>
                <a:spcPts val="600"/>
              </a:spcAft>
              <a:defRPr sz="1300">
                <a:solidFill>
                  <a:srgbClr val="FEFEFE"/>
                </a:solidFill>
                <a:latin typeface="Calibri"/>
              </a:defRPr>
            </a:pPr>
            <a:r>
              <a:t>Leveraging STTR grants for elite university partnerships.</a:t>
            </a:r>
          </a:p>
          <a:p>
            <a:pPr>
              <a:spcAft>
                <a:spcPts val="600"/>
              </a:spcAft>
              <a:defRPr sz="1300">
                <a:solidFill>
                  <a:srgbClr val="FEFEFE"/>
                </a:solidFill>
                <a:latin typeface="Calibri"/>
              </a:defRPr>
            </a:pPr>
            <a:r>
              <a:t>Target labs: Stanford (Bio-X), MIT (CBMM), UCSD (Swartz Center).</a:t>
            </a:r>
          </a:p>
          <a:p>
            <a:pPr>
              <a:spcAft>
                <a:spcPts val="600"/>
              </a:spcAft>
              <a:defRPr sz="1300">
                <a:solidFill>
                  <a:srgbClr val="FEFEFE"/>
                </a:solidFill>
                <a:latin typeface="Calibri"/>
              </a:defRPr>
            </a:pPr>
            <a:r>
              <a:t>The university provides world-class PhD expertise and facilities.</a:t>
            </a:r>
          </a:p>
          <a:p>
            <a:pPr>
              <a:spcAft>
                <a:spcPts val="600"/>
              </a:spcAft>
              <a:defRPr sz="1300">
                <a:solidFill>
                  <a:srgbClr val="FEFEFE"/>
                </a:solidFill>
                <a:latin typeface="Calibri"/>
              </a:defRPr>
            </a:pPr>
            <a:r>
              <a:t>SynapTech provides the IDRE platform — software, infrastructure, compute.</a:t>
            </a:r>
          </a:p>
          <a:p>
            <a:pPr>
              <a:spcAft>
                <a:spcPts val="600"/>
              </a:spcAft>
              <a:defRPr sz="1300">
                <a:solidFill>
                  <a:srgbClr val="FEFEFE"/>
                </a:solidFill>
                <a:latin typeface="Calibri"/>
              </a:defRPr>
            </a:pPr>
            <a:r>
              <a:t>Federal government funds the partnership non-dilutively.</a:t>
            </a:r>
          </a:p>
          <a:p>
            <a:pPr>
              <a:spcAft>
                <a:spcPts val="600"/>
              </a:spcAft>
              <a:defRPr sz="1300">
                <a:solidFill>
                  <a:srgbClr val="FEFEFE"/>
                </a:solidFill>
                <a:latin typeface="Calibri"/>
              </a:defRPr>
            </a:pPr>
            <a:r>
              <a:t>Phase I STTR: ~$250k (6 months proof-of-concept).</a:t>
            </a:r>
          </a:p>
          <a:p>
            <a:pPr>
              <a:spcAft>
                <a:spcPts val="600"/>
              </a:spcAft>
              <a:defRPr sz="1300">
                <a:solidFill>
                  <a:srgbClr val="FEFEFE"/>
                </a:solidFill>
                <a:latin typeface="Calibri"/>
              </a:defRPr>
            </a:pPr>
            <a:r>
              <a:t>Phase II STTR: ~$1M (2 years full-scale deployment).</a:t>
            </a:r>
          </a:p>
          <a:p>
            <a:pPr>
              <a:spcAft>
                <a:spcPts val="600"/>
              </a:spcAft>
              <a:defRPr sz="1300">
                <a:solidFill>
                  <a:srgbClr val="FEFEFE"/>
                </a:solidFill>
                <a:latin typeface="Calibri"/>
              </a:defRPr>
            </a:pPr>
            <a:r>
              <a:t>Bypass early capex, access top talent, validate product in real research environments.</a:t>
            </a:r>
          </a:p>
        </p:txBody>
      </p:sp>
      <p:pic>
        <p:nvPicPr>
          <p:cNvPr id="9" name="Picture 8" descr="use_of_funds.png"/>
          <p:cNvPicPr>
            <a:picLocks noChangeAspect="1"/>
          </p:cNvPicPr>
          <p:nvPr/>
        </p:nvPicPr>
        <p:blipFill>
          <a:blip r:embed="rId3"/>
          <a:stretch>
            <a:fillRect/>
          </a:stretch>
        </p:blipFill>
        <p:spPr>
          <a:xfrm>
            <a:off x="6400800" y="1645920"/>
            <a:ext cx="5029200" cy="4572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Competitive Landscape</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The Unfair Advantage: DCSL Middleware + Open Platform</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9 / 10</a:t>
            </a:r>
          </a:p>
        </p:txBody>
      </p:sp>
      <p:pic>
        <p:nvPicPr>
          <p:cNvPr id="8" name="Picture 7" descr="competitive_matrix.png"/>
          <p:cNvPicPr>
            <a:picLocks noChangeAspect="1"/>
          </p:cNvPicPr>
          <p:nvPr/>
        </p:nvPicPr>
        <p:blipFill>
          <a:blip r:embed="rId3"/>
          <a:stretch>
            <a:fillRect/>
          </a:stretch>
        </p:blipFill>
        <p:spPr>
          <a:xfrm>
            <a:off x="274320" y="1645920"/>
            <a:ext cx="6583680" cy="4754880"/>
          </a:xfrm>
          <a:prstGeom prst="rect">
            <a:avLst/>
          </a:prstGeom>
        </p:spPr>
      </p:pic>
      <p:sp>
        <p:nvSpPr>
          <p:cNvPr id="9" name="TextBox 8"/>
          <p:cNvSpPr txBox="1"/>
          <p:nvPr/>
        </p:nvSpPr>
        <p:spPr>
          <a:xfrm>
            <a:off x="7132320" y="1645920"/>
            <a:ext cx="4572000" cy="4572000"/>
          </a:xfrm>
          <a:prstGeom prst="rect">
            <a:avLst/>
          </a:prstGeom>
          <a:noFill/>
        </p:spPr>
        <p:txBody>
          <a:bodyPr wrap="square">
            <a:spAutoFit/>
          </a:bodyPr>
          <a:lstStyle/>
          <a:p>
            <a:pPr>
              <a:spcAft>
                <a:spcPts val="600"/>
              </a:spcAft>
              <a:defRPr sz="1100">
                <a:solidFill>
                  <a:srgbClr val="FEFEFE"/>
                </a:solidFill>
                <a:latin typeface="Calibri"/>
              </a:defRPr>
            </a:pPr>
            <a:r>
              <a:t>Google/JAINA: Proprietary EM pipeline — closed, gated.</a:t>
            </a:r>
          </a:p>
          <a:p>
            <a:pPr>
              <a:spcAft>
                <a:spcPts val="600"/>
              </a:spcAft>
              <a:defRPr sz="1100">
                <a:solidFill>
                  <a:srgbClr val="FEFEFE"/>
                </a:solidFill>
                <a:latin typeface="Calibri"/>
              </a:defRPr>
            </a:pPr>
            <a:r>
              <a:t>Intel INRC: Loihi access via grant — ~200 labs worldwide.</a:t>
            </a:r>
          </a:p>
          <a:p>
            <a:pPr>
              <a:spcAft>
                <a:spcPts val="600"/>
              </a:spcAft>
              <a:defRPr sz="1100">
                <a:solidFill>
                  <a:srgbClr val="FEFEFE"/>
                </a:solidFill>
                <a:latin typeface="Calibri"/>
              </a:defRPr>
            </a:pPr>
            <a:r>
              <a:t>FlyWire Codex: Static connectome browser — no computation.</a:t>
            </a:r>
          </a:p>
          <a:p>
            <a:pPr>
              <a:spcAft>
                <a:spcPts val="600"/>
              </a:spcAft>
              <a:defRPr sz="1100">
                <a:solidFill>
                  <a:srgbClr val="FEFEFE"/>
                </a:solidFill>
                <a:latin typeface="Calibri"/>
              </a:defRPr>
            </a:pPr>
            <a:r>
              <a:t>Hugging Face: ML model hub — no neuromorphic hardware.</a:t>
            </a:r>
          </a:p>
          <a:p>
            <a:pPr>
              <a:spcAft>
                <a:spcPts val="600"/>
              </a:spcAft>
              <a:defRPr sz="1100">
                <a:solidFill>
                  <a:srgbClr val="FEFEFE"/>
                </a:solidFill>
                <a:latin typeface="Calibri"/>
              </a:defRPr>
            </a:pPr>
          </a:p>
          <a:p>
            <a:pPr>
              <a:spcAft>
                <a:spcPts val="600"/>
              </a:spcAft>
              <a:defRPr sz="1100">
                <a:solidFill>
                  <a:srgbClr val="FEFEFE"/>
                </a:solidFill>
                <a:latin typeface="Calibri"/>
              </a:defRPr>
            </a:pPr>
            <a:r>
              <a:t>SynapTech Unfair Advantage:</a:t>
            </a:r>
          </a:p>
          <a:p>
            <a:pPr>
              <a:spcAft>
                <a:spcPts val="600"/>
              </a:spcAft>
              <a:defRPr sz="1100">
                <a:solidFill>
                  <a:srgbClr val="FEFEFE"/>
                </a:solidFill>
                <a:latin typeface="Calibri"/>
              </a:defRPr>
            </a:pPr>
            <a:r>
              <a:t>  DCSL Middleware: cryptographic fork protects IP</a:t>
            </a:r>
          </a:p>
          <a:p>
            <a:pPr>
              <a:spcAft>
                <a:spcPts val="600"/>
              </a:spcAft>
              <a:defRPr sz="1100">
                <a:solidFill>
                  <a:srgbClr val="FEFEFE"/>
                </a:solidFill>
                <a:latin typeface="Calibri"/>
              </a:defRPr>
            </a:pPr>
            <a:r>
              <a:t>    while creating a non-scrappable proprietary dataset.</a:t>
            </a:r>
          </a:p>
          <a:p>
            <a:pPr>
              <a:spcAft>
                <a:spcPts val="600"/>
              </a:spcAft>
              <a:defRPr sz="1100">
                <a:solidFill>
                  <a:srgbClr val="FEFEFE"/>
                </a:solidFill>
                <a:latin typeface="Calibri"/>
              </a:defRPr>
            </a:pPr>
            <a:r>
              <a:t>  Open platform + cloud Loihi hardware access.</a:t>
            </a:r>
          </a:p>
          <a:p>
            <a:pPr>
              <a:spcAft>
                <a:spcPts val="600"/>
              </a:spcAft>
              <a:defRPr sz="1100">
                <a:solidFill>
                  <a:srgbClr val="FEFEFE"/>
                </a:solidFill>
                <a:latin typeface="Calibri"/>
              </a:defRPr>
            </a:pPr>
            <a:r>
              <a:t>  Living Blueprint: continuously improving open model.</a:t>
            </a:r>
          </a:p>
        </p:txBody>
      </p:sp>
      <p:sp>
        <p:nvSpPr>
          <p:cNvPr id="10" name="Rounded Rectangle 9"/>
          <p:cNvSpPr/>
          <p:nvPr/>
        </p:nvSpPr>
        <p:spPr>
          <a:xfrm>
            <a:off x="9601200" y="5303520"/>
            <a:ext cx="2286000" cy="1371600"/>
          </a:xfrm>
          <a:prstGeom prst="roundRect">
            <a:avLst/>
          </a:prstGeom>
          <a:solidFill>
            <a:srgbClr val="0A1A28"/>
          </a:solidFill>
          <a:ln w="12700">
            <a:solidFill>
              <a:srgbClr val="E8C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38360" y="5394959"/>
            <a:ext cx="2011680" cy="320040"/>
          </a:xfrm>
          <a:prstGeom prst="rect">
            <a:avLst/>
          </a:prstGeom>
          <a:noFill/>
        </p:spPr>
        <p:txBody>
          <a:bodyPr wrap="square">
            <a:spAutoFit/>
          </a:bodyPr>
          <a:lstStyle/>
          <a:p>
            <a:pPr algn="l">
              <a:defRPr sz="1100" b="1">
                <a:solidFill>
                  <a:srgbClr val="E8C84A"/>
                </a:solidFill>
                <a:latin typeface="Calibri"/>
              </a:defRPr>
            </a:pPr>
            <a:r>
              <a:t>DCSL Moat</a:t>
            </a:r>
          </a:p>
        </p:txBody>
      </p:sp>
      <p:sp>
        <p:nvSpPr>
          <p:cNvPr id="12" name="TextBox 11"/>
          <p:cNvSpPr txBox="1"/>
          <p:nvPr/>
        </p:nvSpPr>
        <p:spPr>
          <a:xfrm>
            <a:off x="9738360" y="5669280"/>
            <a:ext cx="2011680" cy="914400"/>
          </a:xfrm>
          <a:prstGeom prst="rect">
            <a:avLst/>
          </a:prstGeom>
          <a:noFill/>
        </p:spPr>
        <p:txBody>
          <a:bodyPr wrap="square">
            <a:spAutoFit/>
          </a:bodyPr>
          <a:lstStyle/>
          <a:p>
            <a:pPr algn="l">
              <a:defRPr sz="900" b="0">
                <a:solidFill>
                  <a:srgbClr val="7DD4D4"/>
                </a:solidFill>
                <a:latin typeface="Calibri"/>
              </a:defRPr>
            </a:pPr>
            <a:r>
              <a:t>Every request forks: IP encrypted (AES-256) to S3.</a:t>
            </a:r>
            <a:br/>
            <a:r>
              <a:t>Telemetry hashed to Pinecone.</a:t>
            </a:r>
            <a:br/>
            <a:r>
              <a:t>DeepSeek-V4 alignment produces Living Blueprint.</a:t>
            </a:r>
            <a:br/>
            <a:r>
              <a:t>They can't copy what they can't scrape.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2C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54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200" b="1">
                <a:solidFill>
                  <a:srgbClr val="FEFEFE"/>
                </a:solidFill>
                <a:latin typeface="Calibri"/>
              </a:defRPr>
            </a:pPr>
            <a:r>
              <a:t>The Ask: $150,000 Pre-Seed Technical Phase Bridge</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7DD4D4"/>
                </a:solidFill>
                <a:latin typeface="Calibri"/>
              </a:defRPr>
            </a:pPr>
            <a:r>
              <a:t>Delaware C-Corp | Post-money SAFE | 18-month runway to the Fruit Fly Benchmark</a:t>
            </a:r>
          </a:p>
        </p:txBody>
      </p:sp>
      <p:pic>
        <p:nvPicPr>
          <p:cNvPr id="5" name="Picture 4" descr="SynapTechLogo.png"/>
          <p:cNvPicPr>
            <a:picLocks noChangeAspect="1"/>
          </p:cNvPicPr>
          <p:nvPr/>
        </p:nvPicPr>
        <p:blipFill>
          <a:blip r:embed="rId2"/>
          <a:stretch>
            <a:fillRect/>
          </a:stretch>
        </p:blipFill>
        <p:spPr>
          <a:xfrm>
            <a:off x="457200" y="274320"/>
            <a:ext cx="822960" cy="822960"/>
          </a:xfrm>
          <a:prstGeom prst="rect">
            <a:avLst/>
          </a:prstGeom>
        </p:spPr>
      </p:pic>
      <p:sp>
        <p:nvSpPr>
          <p:cNvPr id="6" name="Rectangle 5"/>
          <p:cNvSpPr/>
          <p:nvPr/>
        </p:nvSpPr>
        <p:spPr>
          <a:xfrm>
            <a:off x="0" y="1"/>
            <a:ext cx="1" cy="0"/>
          </a:xfrm>
          <a:prstGeom prst="rect">
            <a:avLst/>
          </a:prstGeom>
          <a:solidFill>
            <a:srgbClr val="E8C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00800"/>
            <a:ext cx="914400" cy="365760"/>
          </a:xfrm>
          <a:prstGeom prst="rect">
            <a:avLst/>
          </a:prstGeom>
          <a:noFill/>
        </p:spPr>
        <p:txBody>
          <a:bodyPr wrap="square">
            <a:spAutoFit/>
          </a:bodyPr>
          <a:lstStyle/>
          <a:p>
            <a:pPr algn="r">
              <a:defRPr sz="900" b="0">
                <a:solidFill>
                  <a:srgbClr val="8A9AAA"/>
                </a:solidFill>
                <a:latin typeface="Calibri"/>
              </a:defRPr>
            </a:pPr>
            <a:r>
              <a:t>10 / 10</a:t>
            </a:r>
          </a:p>
        </p:txBody>
      </p:sp>
      <p:sp>
        <p:nvSpPr>
          <p:cNvPr id="8" name="TextBox 7"/>
          <p:cNvSpPr txBox="1"/>
          <p:nvPr/>
        </p:nvSpPr>
        <p:spPr>
          <a:xfrm>
            <a:off x="731520" y="1828800"/>
            <a:ext cx="5486400" cy="3200400"/>
          </a:xfrm>
          <a:prstGeom prst="rect">
            <a:avLst/>
          </a:prstGeom>
          <a:noFill/>
        </p:spPr>
        <p:txBody>
          <a:bodyPr wrap="square">
            <a:spAutoFit/>
          </a:bodyPr>
          <a:lstStyle/>
          <a:p>
            <a:pPr>
              <a:spcAft>
                <a:spcPts val="600"/>
              </a:spcAft>
              <a:defRPr sz="1200">
                <a:solidFill>
                  <a:srgbClr val="FEFEFE"/>
                </a:solidFill>
                <a:latin typeface="Calibri"/>
              </a:defRPr>
            </a:pPr>
            <a:r>
              <a:t>60% — Compute Infrastructure:</a:t>
            </a:r>
          </a:p>
          <a:p>
            <a:pPr>
              <a:spcAft>
                <a:spcPts val="600"/>
              </a:spcAft>
              <a:defRPr sz="1200">
                <a:solidFill>
                  <a:srgbClr val="FEFEFE"/>
                </a:solidFill>
                <a:latin typeface="Calibri"/>
              </a:defRPr>
            </a:pPr>
            <a:r>
              <a:t>  $30K — Cloud GPU (Lambda Labs, 2x A100 80GB, 6 months).</a:t>
            </a:r>
          </a:p>
          <a:p>
            <a:pPr>
              <a:spcAft>
                <a:spcPts val="600"/>
              </a:spcAft>
              <a:defRPr sz="1200">
                <a:solidFill>
                  <a:srgbClr val="FEFEFE"/>
                </a:solidFill>
                <a:latin typeface="Calibri"/>
              </a:defRPr>
            </a:pPr>
            <a:r>
              <a:t>  $15K — INRC / Loihi 2 cloud access (6 months).</a:t>
            </a:r>
          </a:p>
          <a:p>
            <a:pPr>
              <a:spcAft>
                <a:spcPts val="600"/>
              </a:spcAft>
              <a:defRPr sz="1200">
                <a:solidFill>
                  <a:srgbClr val="FEFEFE"/>
                </a:solidFill>
                <a:latin typeface="Calibri"/>
              </a:defRPr>
            </a:pPr>
            <a:r>
              <a:t>  $10K — Pinecone + S3 + Hugging Face infra.</a:t>
            </a:r>
          </a:p>
          <a:p>
            <a:pPr>
              <a:spcAft>
                <a:spcPts val="600"/>
              </a:spcAft>
              <a:defRPr sz="1200">
                <a:solidFill>
                  <a:srgbClr val="FEFEFE"/>
                </a:solidFill>
                <a:latin typeface="Calibri"/>
              </a:defRPr>
            </a:pPr>
            <a:r>
              <a:t>40% — Engineering &amp; IP:</a:t>
            </a:r>
          </a:p>
          <a:p>
            <a:pPr>
              <a:spcAft>
                <a:spcPts val="600"/>
              </a:spcAft>
              <a:defRPr sz="1200">
                <a:solidFill>
                  <a:srgbClr val="FEFEFE"/>
                </a:solidFill>
                <a:latin typeface="Calibri"/>
              </a:defRPr>
            </a:pPr>
            <a:r>
              <a:t>  $80K — Engineering (2 FTE, 6 months).</a:t>
            </a:r>
          </a:p>
          <a:p>
            <a:pPr>
              <a:spcAft>
                <a:spcPts val="600"/>
              </a:spcAft>
              <a:defRPr sz="1200">
                <a:solidFill>
                  <a:srgbClr val="FEFEFE"/>
                </a:solidFill>
                <a:latin typeface="Calibri"/>
              </a:defRPr>
            </a:pPr>
            <a:r>
              <a:t>  $10K — Legal / IP (4 foundational provisional patents).</a:t>
            </a:r>
          </a:p>
          <a:p>
            <a:pPr>
              <a:spcAft>
                <a:spcPts val="600"/>
              </a:spcAft>
              <a:defRPr sz="1200">
                <a:solidFill>
                  <a:srgbClr val="FEFEFE"/>
                </a:solidFill>
                <a:latin typeface="Calibri"/>
              </a:defRPr>
            </a:pPr>
            <a:r>
              <a:t>  $5K — Demo / marketing / conference travel.</a:t>
            </a:r>
          </a:p>
        </p:txBody>
      </p:sp>
      <p:pic>
        <p:nvPicPr>
          <p:cNvPr id="9" name="Picture 8" descr="use_of_funds.png"/>
          <p:cNvPicPr>
            <a:picLocks noChangeAspect="1"/>
          </p:cNvPicPr>
          <p:nvPr/>
        </p:nvPicPr>
        <p:blipFill>
          <a:blip r:embed="rId3"/>
          <a:stretch>
            <a:fillRect/>
          </a:stretch>
        </p:blipFill>
        <p:spPr>
          <a:xfrm>
            <a:off x="6400800" y="1645920"/>
            <a:ext cx="5029200" cy="4114800"/>
          </a:xfrm>
          <a:prstGeom prst="rect">
            <a:avLst/>
          </a:prstGeom>
        </p:spPr>
      </p:pic>
      <p:sp>
        <p:nvSpPr>
          <p:cNvPr id="10" name="Rounded Rectangle 9"/>
          <p:cNvSpPr/>
          <p:nvPr/>
        </p:nvSpPr>
        <p:spPr>
          <a:xfrm>
            <a:off x="731520" y="5029200"/>
            <a:ext cx="5029200" cy="1645920"/>
          </a:xfrm>
          <a:prstGeom prst="roundRect">
            <a:avLst/>
          </a:prstGeom>
          <a:solidFill>
            <a:srgbClr val="0A1A28"/>
          </a:solidFill>
          <a:ln w="12700">
            <a:solidFill>
              <a:srgbClr val="E8C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120640"/>
            <a:ext cx="4754880" cy="320040"/>
          </a:xfrm>
          <a:prstGeom prst="rect">
            <a:avLst/>
          </a:prstGeom>
          <a:noFill/>
        </p:spPr>
        <p:txBody>
          <a:bodyPr wrap="square">
            <a:spAutoFit/>
          </a:bodyPr>
          <a:lstStyle/>
          <a:p>
            <a:pPr algn="l">
              <a:defRPr sz="1100" b="1">
                <a:solidFill>
                  <a:srgbClr val="E8C84A"/>
                </a:solidFill>
                <a:latin typeface="Calibri"/>
              </a:defRPr>
            </a:pPr>
            <a:r>
              <a:t>This is NOT 'final' funding — it is a Technical Phase Bridge</a:t>
            </a:r>
          </a:p>
        </p:txBody>
      </p:sp>
      <p:sp>
        <p:nvSpPr>
          <p:cNvPr id="12" name="TextBox 11"/>
          <p:cNvSpPr txBox="1"/>
          <p:nvPr/>
        </p:nvSpPr>
        <p:spPr>
          <a:xfrm>
            <a:off x="868680" y="5394960"/>
            <a:ext cx="4754880" cy="1188720"/>
          </a:xfrm>
          <a:prstGeom prst="rect">
            <a:avLst/>
          </a:prstGeom>
          <a:noFill/>
        </p:spPr>
        <p:txBody>
          <a:bodyPr wrap="square">
            <a:spAutoFit/>
          </a:bodyPr>
          <a:lstStyle/>
          <a:p>
            <a:pPr algn="l">
              <a:defRPr sz="900" b="0">
                <a:solidFill>
                  <a:srgbClr val="7DD4D4"/>
                </a:solidFill>
                <a:latin typeface="Calibri"/>
              </a:defRPr>
            </a:pPr>
            <a:r>
              <a:t>Precisely scoped to achieve three de-risking milestones:</a:t>
            </a:r>
            <a:br/>
            <a:r>
              <a:t>1) Lock down 4 foundational provisional patents on the DCSL framework and CSC engine.</a:t>
            </a:r>
            <a:br/>
            <a:r>
              <a:t>2) Finalize telemetry pipelines and hit the 'Fruit Fly Benchmark.'</a:t>
            </a:r>
            <a:br/>
            <a:r>
              <a:t>3) Deliver a producible product demo for Y Combinator / NEA for the next round.</a:t>
            </a:r>
            <a:br/>
            <a:r>
              <a:t>Target: 18-month runway to Series A metrics (10k queries/day, 50+ DAU researchers).</a:t>
            </a:r>
          </a:p>
        </p:txBody>
      </p:sp>
      <p:sp>
        <p:nvSpPr>
          <p:cNvPr id="13" name="TextBox 12"/>
          <p:cNvSpPr txBox="1"/>
          <p:nvPr/>
        </p:nvSpPr>
        <p:spPr>
          <a:xfrm>
            <a:off x="731520" y="6400800"/>
            <a:ext cx="10515600" cy="365760"/>
          </a:xfrm>
          <a:prstGeom prst="rect">
            <a:avLst/>
          </a:prstGeom>
          <a:noFill/>
        </p:spPr>
        <p:txBody>
          <a:bodyPr wrap="square">
            <a:spAutoFit/>
          </a:bodyPr>
          <a:lstStyle/>
          <a:p>
            <a:pPr algn="ctr">
              <a:defRPr sz="1000" b="0">
                <a:solidFill>
                  <a:srgbClr val="E8C84A"/>
                </a:solidFill>
                <a:latin typeface="Calibri"/>
              </a:defRPr>
            </a:pPr>
            <a:r>
              <a:t>"Will the future of neuromorphic AI be locked in a corporate walled garden, or will it be a democratized neuromorphic commons?"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