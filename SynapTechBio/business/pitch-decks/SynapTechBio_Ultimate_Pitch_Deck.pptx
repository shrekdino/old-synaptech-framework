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F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A1F2E"/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scaled="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94484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 i="0">
                <a:solidFill>
                  <a:srgbClr val="FFFFFF"/>
                </a:solidFill>
                <a:latin typeface="Calibri"/>
              </a:defRPr>
            </a:pPr>
            <a:r>
              <a:t>SYNAPTECHBIO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200400"/>
            <a:ext cx="94484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 i="0">
                <a:solidFill>
                  <a:srgbClr val="B0BEC5"/>
                </a:solidFill>
                <a:latin typeface="Calibri"/>
              </a:defRPr>
            </a:pPr>
            <a:r>
              <a:t>The Decentralized Intelligence Foundry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931920"/>
            <a:ext cx="94484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 i="0">
                <a:solidFill>
                  <a:srgbClr val="B0BEC5"/>
                </a:solidFill>
                <a:latin typeface="Calibri"/>
              </a:defRPr>
            </a:pPr>
            <a:r>
              <a:t>From Connectome to Collective Superintelligence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5029200"/>
            <a:ext cx="94484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 i="0">
                <a:solidFill>
                  <a:srgbClr val="B0BEC5"/>
                </a:solidFill>
                <a:latin typeface="Calibri"/>
              </a:defRPr>
            </a:pPr>
            <a:r>
              <a:t>Delaware C-Corp (Pre-Incorporated)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5760720"/>
            <a:ext cx="94484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 i="0">
                <a:solidFill>
                  <a:srgbClr val="14A3A8"/>
                </a:solidFill>
                <a:latin typeface="Calibri"/>
              </a:defRPr>
            </a:pPr>
            <a:r>
              <a:t>Sami Torres  |  SamiT2825@synaptechbio.org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F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3200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FFFFFF"/>
                </a:solidFill>
                <a:latin typeface="Calibri"/>
              </a:defRPr>
            </a:pPr>
            <a:r>
              <a:t>SYNAPTECHBIO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3716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 i="0">
                <a:solidFill>
                  <a:srgbClr val="FFFFFF"/>
                </a:solidFill>
                <a:latin typeface="Calibri"/>
              </a:defRPr>
            </a:pPr>
            <a:r>
              <a:t>AI is Centralizing Power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0116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0D7377"/>
                </a:solidFill>
                <a:latin typeface="Calibri"/>
              </a:defRPr>
            </a:pPr>
            <a:r>
              <a:t>Faster Than We Can Regulate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743200"/>
            <a:ext cx="822960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B0BEC5"/>
                </a:solidFill>
                <a:latin typeface="Calibri"/>
              </a:defRPr>
            </a:pPr>
            <a:r>
              <a:t>$10M+ training costs for frontier models</a:t>
            </a:r>
          </a:p>
          <a:p>
            <a:pPr>
              <a:spcAft>
                <a:spcPts val="600"/>
              </a:spcAft>
              <a:defRPr sz="1400">
                <a:solidFill>
                  <a:srgbClr val="B0BEC5"/>
                </a:solidFill>
                <a:latin typeface="Calibri"/>
              </a:defRPr>
            </a:pPr>
            <a:r>
              <a:t>Hardware gatekept by ~200 labs worldwide (INRC)</a:t>
            </a:r>
          </a:p>
          <a:p>
            <a:pPr>
              <a:spcAft>
                <a:spcPts val="600"/>
              </a:spcAft>
              <a:defRPr sz="1400">
                <a:solidFill>
                  <a:srgbClr val="B0BEC5"/>
                </a:solidFill>
                <a:latin typeface="Calibri"/>
              </a:defRPr>
            </a:pPr>
            <a:r>
              <a:t>Proprietary models locked behind closed APIs</a:t>
            </a:r>
          </a:p>
          <a:p>
            <a:pPr>
              <a:spcAft>
                <a:spcPts val="600"/>
              </a:spcAft>
              <a:defRPr sz="1400">
                <a:solidFill>
                  <a:srgbClr val="B0BEC5"/>
                </a:solidFill>
                <a:latin typeface="Calibri"/>
              </a:defRPr>
            </a:pPr>
            <a:r>
              <a:t>Talent concentrated in 3 cities (SF, Seattle, NYC)</a:t>
            </a:r>
          </a:p>
          <a:p>
            <a:pPr>
              <a:spcAft>
                <a:spcPts val="600"/>
              </a:spcAft>
              <a:defRPr sz="1400">
                <a:solidFill>
                  <a:srgbClr val="B0BEC5"/>
                </a:solidFill>
                <a:latin typeface="Calibri"/>
              </a:defRPr>
            </a:pPr>
            <a:r>
              <a:t>600J per token — a fly brain runs a billion lifetimes on the same energy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6355080"/>
            <a:ext cx="11460175" cy="6350"/>
          </a:xfrm>
          <a:prstGeom prst="rect">
            <a:avLst/>
          </a:prstGeom>
          <a:solidFill>
            <a:srgbClr val="0D7377">
              <a:lumMod val="30000"/>
              <a:lumOff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4008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B0BEC5"/>
                </a:solidFill>
                <a:latin typeface="Calibri"/>
              </a:defRPr>
            </a:pPr>
            <a:r>
              <a:t>Slide 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640080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B0BEC5"/>
                </a:solidFill>
                <a:latin typeface="Calibri"/>
              </a:defRPr>
            </a:pPr>
            <a:r>
              <a:t>The OS for Neuromorphic Intelligence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6400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1">
                <a:solidFill>
                  <a:srgbClr val="B0BEC5"/>
                </a:solidFill>
                <a:latin typeface="Calibri"/>
              </a:defRPr>
            </a:pPr>
            <a:r>
              <a:t>Confidential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3200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FFFFFF"/>
                </a:solidFill>
                <a:latin typeface="Calibri"/>
              </a:defRPr>
            </a:pPr>
            <a:r>
              <a:t>SYNAPTECHBIO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5486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FFD166"/>
                </a:solidFill>
                <a:latin typeface="Calibri"/>
              </a:defRPr>
            </a:pPr>
            <a:r>
              <a:t>THE VISION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3716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 i="0">
                <a:solidFill>
                  <a:srgbClr val="FFFFFF"/>
                </a:solidFill>
                <a:latin typeface="Calibri"/>
              </a:defRPr>
            </a:pPr>
            <a:r>
              <a:t>The Valve of Austin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560320"/>
            <a:ext cx="94484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 i="0">
                <a:solidFill>
                  <a:srgbClr val="B0BEC5"/>
                </a:solidFill>
                <a:latin typeface="Calibri"/>
              </a:defRPr>
            </a:pPr>
            <a:r>
              <a:t>Flat hierarchy. Self-organizing teams. Every contributor is an owner.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474720"/>
            <a:ext cx="8229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B0BEC5"/>
                </a:solidFill>
                <a:latin typeface="Calibri"/>
              </a:defRPr>
            </a:pPr>
            <a:r>
              <a:t>Valve proved a flat org can produce billion-dollar value without managers</a:t>
            </a:r>
          </a:p>
          <a:p>
            <a:pPr>
              <a:spcAft>
                <a:spcPts val="600"/>
              </a:spcAft>
              <a:defRPr sz="1400">
                <a:solidFill>
                  <a:srgbClr val="B0BEC5"/>
                </a:solidFill>
                <a:latin typeface="Calibri"/>
              </a:defRPr>
            </a:pPr>
            <a:r>
              <a:t>SynapTechBio adapts the model: open source + equity for all + Austin</a:t>
            </a:r>
          </a:p>
          <a:p>
            <a:pPr>
              <a:spcAft>
                <a:spcPts val="600"/>
              </a:spcAft>
              <a:defRPr sz="1400">
                <a:solidFill>
                  <a:srgbClr val="B0BEC5"/>
                </a:solidFill>
                <a:latin typeface="Calibri"/>
              </a:defRPr>
            </a:pPr>
            <a:r>
              <a:t>40% lower costs than SF. No state income tax. UT Austin talent pipeline.</a:t>
            </a:r>
          </a:p>
          <a:p>
            <a:pPr>
              <a:spcAft>
                <a:spcPts val="600"/>
              </a:spcAft>
              <a:defRPr sz="1400">
                <a:solidFill>
                  <a:srgbClr val="B0BEC5"/>
                </a:solidFill>
                <a:latin typeface="Calibri"/>
              </a:defRPr>
            </a:pPr>
            <a:r>
              <a:t>The minds of Seattle. The heart of Austin. The future of intelligence.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53035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1">
                <a:solidFill>
                  <a:srgbClr val="FFD166"/>
                </a:solidFill>
                <a:latin typeface="Calibri"/>
              </a:defRPr>
            </a:pPr>
            <a:r>
              <a:t>"I'm not building a company. I'm building a super organism."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6355080"/>
            <a:ext cx="11460175" cy="6350"/>
          </a:xfrm>
          <a:prstGeom prst="rect">
            <a:avLst/>
          </a:prstGeom>
          <a:solidFill>
            <a:srgbClr val="0D7377">
              <a:lumMod val="30000"/>
              <a:lumOff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4008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B0BEC5"/>
                </a:solidFill>
                <a:latin typeface="Calibri"/>
              </a:defRPr>
            </a:pPr>
            <a:r>
              <a:t>Slide 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640080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B0BEC5"/>
                </a:solidFill>
                <a:latin typeface="Calibri"/>
              </a:defRPr>
            </a:pPr>
            <a:r>
              <a:t>The OS for Neuromorphic Intelligence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0" y="6400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1">
                <a:solidFill>
                  <a:srgbClr val="B0BEC5"/>
                </a:solidFill>
                <a:latin typeface="Calibri"/>
              </a:defRPr>
            </a:pPr>
            <a:r>
              <a:t>Confidential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F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3200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FFFFFF"/>
                </a:solidFill>
                <a:latin typeface="Calibri"/>
              </a:defRPr>
            </a:pPr>
            <a:r>
              <a:t>SYNAPTECHBIO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3716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 i="0">
                <a:solidFill>
                  <a:srgbClr val="FFFFFF"/>
                </a:solidFill>
                <a:latin typeface="Calibri"/>
              </a:defRPr>
            </a:pPr>
            <a:r>
              <a:t>The Connectome Is a Gift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0116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 i="0">
                <a:solidFill>
                  <a:srgbClr val="0D7377"/>
                </a:solidFill>
                <a:latin typeface="Calibri"/>
              </a:defRPr>
            </a:pPr>
            <a:r>
              <a:t>FlyWire — Dorkenwald et al., Nature 2024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2743200"/>
            <a:ext cx="2560320" cy="1097280"/>
          </a:xfrm>
          <a:prstGeom prst="roundRect">
            <a:avLst/>
          </a:prstGeom>
          <a:solidFill>
            <a:srgbClr val="0B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508760" y="283464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 i="0">
                <a:solidFill>
                  <a:srgbClr val="FFD166"/>
                </a:solidFill>
                <a:latin typeface="Calibri"/>
              </a:defRPr>
            </a:pPr>
            <a:r>
              <a:t>139,255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08760" y="32918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 i="0">
                <a:solidFill>
                  <a:srgbClr val="0D7377"/>
                </a:solidFill>
                <a:latin typeface="Calibri"/>
              </a:defRPr>
            </a:pPr>
            <a:r>
              <a:t>Neurons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2743200"/>
            <a:ext cx="2560320" cy="1097280"/>
          </a:xfrm>
          <a:prstGeom prst="roundRect">
            <a:avLst/>
          </a:prstGeom>
          <a:solidFill>
            <a:srgbClr val="0B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34840" y="283464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 i="0">
                <a:solidFill>
                  <a:srgbClr val="FFD166"/>
                </a:solidFill>
                <a:latin typeface="Calibri"/>
              </a:defRPr>
            </a:pPr>
            <a:r>
              <a:t>~50M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34840" y="32918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 i="0">
                <a:solidFill>
                  <a:srgbClr val="0D7377"/>
                </a:solidFill>
                <a:latin typeface="Calibri"/>
              </a:defRPr>
            </a:pPr>
            <a:r>
              <a:t>Synapses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23760" y="2743200"/>
            <a:ext cx="2560320" cy="1097280"/>
          </a:xfrm>
          <a:prstGeom prst="roundRect">
            <a:avLst/>
          </a:prstGeom>
          <a:solidFill>
            <a:srgbClr val="0B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60920" y="283464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 i="0">
                <a:solidFill>
                  <a:srgbClr val="FFD166"/>
                </a:solidFill>
                <a:latin typeface="Calibri"/>
              </a:defRPr>
            </a:pPr>
            <a:r>
              <a:t>CC BY 4.0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60920" y="32918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 i="0">
                <a:solidFill>
                  <a:srgbClr val="FFD166"/>
                </a:solidFill>
                <a:latin typeface="Calibri"/>
              </a:defRPr>
            </a:pPr>
            <a:r>
              <a:t>Open License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4206240"/>
            <a:ext cx="822960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B0BEC5"/>
                </a:solidFill>
                <a:latin typeface="Calibri"/>
              </a:defRPr>
            </a:pPr>
            <a:r>
              <a:t>First complete synaptic-resolution wiring diagram of an adult brain</a:t>
            </a:r>
          </a:p>
          <a:p>
            <a:pPr>
              <a:spcAft>
                <a:spcPts val="600"/>
              </a:spcAft>
              <a:defRPr sz="1300">
                <a:solidFill>
                  <a:srgbClr val="B0BEC5"/>
                </a:solidFill>
                <a:latin typeface="Calibri"/>
              </a:defRPr>
            </a:pPr>
            <a:r>
              <a:t>50+ neuroscientists validated over 1,000+ hours of proofreading</a:t>
            </a:r>
          </a:p>
          <a:p>
            <a:pPr>
              <a:spcAft>
                <a:spcPts val="600"/>
              </a:spcAft>
              <a:defRPr sz="1300">
                <a:solidFill>
                  <a:srgbClr val="B0BEC5"/>
                </a:solidFill>
                <a:latin typeface="Calibri"/>
              </a:defRPr>
            </a:pPr>
            <a:r>
              <a:t>Eon Systems: 125k neurons driving simulated fly body in real-time — structural wiring drives behavior</a:t>
            </a:r>
          </a:p>
          <a:p>
            <a:pPr>
              <a:spcAft>
                <a:spcPts val="600"/>
              </a:spcAft>
              <a:defRPr sz="1300">
                <a:solidFill>
                  <a:srgbClr val="B0BEC5"/>
                </a:solidFill>
                <a:latin typeface="Calibri"/>
              </a:defRPr>
            </a:pPr>
            <a:r>
              <a:t>FlyWire LSM: &gt;95% accuracy, trains in &lt;30s on CPU, 1.6 MB footprint</a:t>
            </a:r>
          </a:p>
          <a:p>
            <a:pPr>
              <a:spcAft>
                <a:spcPts val="600"/>
              </a:spcAft>
              <a:defRPr sz="1300">
                <a:solidFill>
                  <a:srgbClr val="B0BEC5"/>
                </a:solidFill>
                <a:latin typeface="Calibri"/>
              </a:defRPr>
            </a:pPr>
            <a:r>
              <a:t>flywire-realtime-engine: 60Hz closed-loop on consumer GPU (RTX 3060)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6355080"/>
            <a:ext cx="11460175" cy="6350"/>
          </a:xfrm>
          <a:prstGeom prst="rect">
            <a:avLst/>
          </a:prstGeom>
          <a:solidFill>
            <a:srgbClr val="0D7377">
              <a:lumMod val="30000"/>
              <a:lumOff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" y="64008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B0BEC5"/>
                </a:solidFill>
                <a:latin typeface="Calibri"/>
              </a:defRPr>
            </a:pPr>
            <a:r>
              <a:t>Slide 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0" y="640080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B0BEC5"/>
                </a:solidFill>
                <a:latin typeface="Calibri"/>
              </a:defRPr>
            </a:pPr>
            <a:r>
              <a:t>The OS for Neuromorphic Intelligence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0" y="6400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1">
                <a:solidFill>
                  <a:srgbClr val="B0BEC5"/>
                </a:solidFill>
                <a:latin typeface="Calibri"/>
              </a:defRPr>
            </a:pPr>
            <a:r>
              <a:t>Confidential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F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3200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FFFFFF"/>
                </a:solidFill>
                <a:latin typeface="Calibri"/>
              </a:defRPr>
            </a:pPr>
            <a:r>
              <a:t>SYNAPTECHBIO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3716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 i="0">
                <a:solidFill>
                  <a:srgbClr val="FFFFFF"/>
                </a:solidFill>
                <a:latin typeface="Calibri"/>
              </a:defRPr>
            </a:pPr>
            <a:r>
              <a:t>The IDRE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0116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 i="0">
                <a:solidFill>
                  <a:srgbClr val="0D7377"/>
                </a:solidFill>
                <a:latin typeface="Calibri"/>
              </a:defRPr>
            </a:pPr>
            <a:r>
              <a:t>Integrated Data Representation Engine — Real-Time Connectome Computation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743200"/>
            <a:ext cx="8229600" cy="19202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B0BEC5"/>
                </a:solidFill>
                <a:latin typeface="Calibri"/>
              </a:defRPr>
            </a:pPr>
            <a:r>
              <a:t>GPU-accelerated Compressed Sparse Column (CSC) graph engine</a:t>
            </a:r>
          </a:p>
          <a:p>
            <a:pPr>
              <a:spcAft>
                <a:spcPts val="600"/>
              </a:spcAft>
              <a:defRPr sz="1300">
                <a:solidFill>
                  <a:srgbClr val="B0BEC5"/>
                </a:solidFill>
                <a:latin typeface="Calibri"/>
              </a:defRPr>
            </a:pPr>
            <a:r>
              <a:t>Executes 130k × 130k Drosophila connectome — ~1ms activation on GPU, ~10ms CPU</a:t>
            </a:r>
          </a:p>
          <a:p>
            <a:pPr>
              <a:spcAft>
                <a:spcPts val="600"/>
              </a:spcAft>
              <a:defRPr sz="1300">
                <a:solidFill>
                  <a:srgbClr val="B0BEC5"/>
                </a:solidFill>
                <a:latin typeface="Calibri"/>
              </a:defRPr>
            </a:pPr>
            <a:r>
              <a:t>Hardware-agnostic: CuPy → SciPy → NumPy fallback — no single point of failure</a:t>
            </a:r>
          </a:p>
          <a:p>
            <a:pPr>
              <a:spcAft>
                <a:spcPts val="600"/>
              </a:spcAft>
              <a:defRPr sz="1300">
                <a:solidFill>
                  <a:srgbClr val="B0BEC5"/>
                </a:solidFill>
                <a:latin typeface="Calibri"/>
              </a:defRPr>
            </a:pPr>
            <a:r>
              <a:t>SSE streaming: real-time neural pulse data to browser-based 3D visualization (Three.js/R3F)</a:t>
            </a:r>
          </a:p>
          <a:p>
            <a:pPr>
              <a:spcAft>
                <a:spcPts val="600"/>
              </a:spcAft>
              <a:defRPr sz="1300">
                <a:solidFill>
                  <a:srgbClr val="B0BEC5"/>
                </a:solidFill>
                <a:latin typeface="Calibri"/>
              </a:defRPr>
            </a:pPr>
            <a:r>
              <a:t>Intel Loihi bridge via Lava framework — compile subgraphs for neuromorphic hardware</a:t>
            </a:r>
          </a:p>
          <a:p>
            <a:pPr>
              <a:spcAft>
                <a:spcPts val="600"/>
              </a:spcAft>
              <a:defRPr sz="1300">
                <a:solidFill>
                  <a:srgbClr val="B0BEC5"/>
                </a:solidFill>
                <a:latin typeface="Calibri"/>
              </a:defRPr>
            </a:pPr>
            <a:r>
              <a:t>Data Capture Split Layer (DCSL): cryptographic IP protection on every request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0" y="5029200"/>
            <a:ext cx="2560320" cy="1097280"/>
          </a:xfrm>
          <a:prstGeom prst="roundRect">
            <a:avLst/>
          </a:prstGeom>
          <a:solidFill>
            <a:srgbClr val="0B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08760" y="512064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 i="0">
                <a:solidFill>
                  <a:srgbClr val="FFD166"/>
                </a:solidFill>
                <a:latin typeface="Calibri"/>
              </a:defRPr>
            </a:pPr>
            <a:r>
              <a:t>5x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55778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 i="0">
                <a:solidFill>
                  <a:srgbClr val="FFD166"/>
                </a:solidFill>
                <a:latin typeface="Calibri"/>
              </a:defRPr>
            </a:pPr>
            <a:r>
              <a:t>Latency Reduction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5029200"/>
            <a:ext cx="2560320" cy="1097280"/>
          </a:xfrm>
          <a:prstGeom prst="roundRect">
            <a:avLst/>
          </a:prstGeom>
          <a:solidFill>
            <a:srgbClr val="0B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34840" y="512064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 i="0">
                <a:solidFill>
                  <a:srgbClr val="FFD166"/>
                </a:solidFill>
                <a:latin typeface="Calibri"/>
              </a:defRPr>
            </a:pPr>
            <a:r>
              <a:t>20x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34840" y="55778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 i="0">
                <a:solidFill>
                  <a:srgbClr val="FFD166"/>
                </a:solidFill>
                <a:latin typeface="Calibri"/>
              </a:defRPr>
            </a:pPr>
            <a:r>
              <a:t>Energy Savings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223760" y="5029200"/>
            <a:ext cx="2560320" cy="1097280"/>
          </a:xfrm>
          <a:prstGeom prst="roundRect">
            <a:avLst/>
          </a:prstGeom>
          <a:solidFill>
            <a:srgbClr val="0B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60920" y="512064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 i="0">
                <a:solidFill>
                  <a:srgbClr val="FFD166"/>
                </a:solidFill>
                <a:latin typeface="Calibri"/>
              </a:defRPr>
            </a:pPr>
            <a:r>
              <a:t>25x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60920" y="55778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 i="0">
                <a:solidFill>
                  <a:srgbClr val="FFD166"/>
                </a:solidFill>
                <a:latin typeface="Calibri"/>
              </a:defRPr>
            </a:pPr>
            <a:r>
              <a:t>Memory Efficiency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61264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B0BEC5"/>
                </a:solidFill>
                <a:latin typeface="Calibri"/>
              </a:defRPr>
            </a:pPr>
            <a:r>
              <a:t>Stack: FastAPI  |  CuPy/SciPy  |  React 19  |  Three.js  |  Lava-NC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6355080"/>
            <a:ext cx="11460175" cy="6350"/>
          </a:xfrm>
          <a:prstGeom prst="rect">
            <a:avLst/>
          </a:prstGeom>
          <a:solidFill>
            <a:srgbClr val="0D7377">
              <a:lumMod val="30000"/>
              <a:lumOff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64008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B0BEC5"/>
                </a:solidFill>
                <a:latin typeface="Calibri"/>
              </a:defRPr>
            </a:pPr>
            <a:r>
              <a:t>Slide 05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0" y="640080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B0BEC5"/>
                </a:solidFill>
                <a:latin typeface="Calibri"/>
              </a:defRPr>
            </a:pPr>
            <a:r>
              <a:t>The OS for Neuromorphic Intelligence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0" y="6400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1">
                <a:solidFill>
                  <a:srgbClr val="B0BEC5"/>
                </a:solidFill>
                <a:latin typeface="Calibri"/>
              </a:defRPr>
            </a:pPr>
            <a:r>
              <a:t>Confidential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3200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FFFFFF"/>
                </a:solidFill>
                <a:latin typeface="Calibri"/>
              </a:defRPr>
            </a:pPr>
            <a:r>
              <a:t>SYNAPTECHBIO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5486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FFD166"/>
                </a:solidFill>
                <a:latin typeface="Calibri"/>
              </a:defRPr>
            </a:pPr>
            <a:r>
              <a:t>THE MOAT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3716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 i="0">
                <a:solidFill>
                  <a:srgbClr val="FFFFFF"/>
                </a:solidFill>
                <a:latin typeface="Calibri"/>
              </a:defRPr>
            </a:pPr>
            <a:r>
              <a:t>Data Capture Split Layer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743200"/>
            <a:ext cx="822960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B0BEC5"/>
                </a:solidFill>
                <a:latin typeface="Calibri"/>
              </a:defRPr>
            </a:pPr>
            <a:r>
              <a:t>Every request forks: proprietary IP encrypted (AES-256-GCM), telemetry anonymized (SHA-256)</a:t>
            </a:r>
          </a:p>
          <a:p>
            <a:pPr>
              <a:spcAft>
                <a:spcPts val="600"/>
              </a:spcAft>
              <a:defRPr sz="1400">
                <a:solidFill>
                  <a:srgbClr val="B0BEC5"/>
                </a:solidFill>
                <a:latin typeface="Calibri"/>
              </a:defRPr>
            </a:pPr>
            <a:r>
              <a:t>We cannot decrypt user data — trust is engineered, not promised</a:t>
            </a:r>
          </a:p>
          <a:p>
            <a:pPr>
              <a:spcAft>
                <a:spcPts val="600"/>
              </a:spcAft>
              <a:defRPr sz="1400">
                <a:solidFill>
                  <a:srgbClr val="B0BEC5"/>
                </a:solidFill>
                <a:latin typeface="Calibri"/>
              </a:defRPr>
            </a:pPr>
            <a:r>
              <a:t>Creates a non-scrappable proprietary dataset that grows with every researcher</a:t>
            </a:r>
          </a:p>
          <a:p>
            <a:pPr>
              <a:spcAft>
                <a:spcPts val="600"/>
              </a:spcAft>
              <a:defRPr sz="1400">
                <a:solidFill>
                  <a:srgbClr val="B0BEC5"/>
                </a:solidFill>
                <a:latin typeface="Calibri"/>
              </a:defRPr>
            </a:pPr>
            <a:r>
              <a:t>Traditional AI cannot scrape what it cannot decrypt — permanent data moat</a:t>
            </a:r>
          </a:p>
          <a:p>
            <a:pPr>
              <a:spcAft>
                <a:spcPts val="600"/>
              </a:spcAft>
              <a:defRPr sz="1400">
                <a:solidFill>
                  <a:srgbClr val="B0BEC5"/>
                </a:solidFill>
                <a:latin typeface="Calibri"/>
              </a:defRPr>
            </a:pPr>
            <a:r>
              <a:t>Planned: per-tenant S3 buckets, Pinecone vector DB, continuous alignment pipeline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50292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 i="1">
                <a:solidFill>
                  <a:srgbClr val="FFD166"/>
                </a:solidFill>
                <a:latin typeface="Calibri"/>
              </a:defRPr>
            </a:pPr>
            <a:r>
              <a:t>"They can't copy what they can't scrape."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6355080"/>
            <a:ext cx="11460175" cy="6350"/>
          </a:xfrm>
          <a:prstGeom prst="rect">
            <a:avLst/>
          </a:prstGeom>
          <a:solidFill>
            <a:srgbClr val="0D7377">
              <a:lumMod val="30000"/>
              <a:lumOff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4008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B0BEC5"/>
                </a:solidFill>
                <a:latin typeface="Calibri"/>
              </a:defRPr>
            </a:pPr>
            <a:r>
              <a:t>Slide 06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640080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B0BEC5"/>
                </a:solidFill>
                <a:latin typeface="Calibri"/>
              </a:defRPr>
            </a:pPr>
            <a:r>
              <a:t>The OS for Neuromorphic Intelligence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0" y="6400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1">
                <a:solidFill>
                  <a:srgbClr val="B0BEC5"/>
                </a:solidFill>
                <a:latin typeface="Calibri"/>
              </a:defRPr>
            </a:pPr>
            <a:r>
              <a:t>Confidential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F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3200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FFFFFF"/>
                </a:solidFill>
                <a:latin typeface="Calibri"/>
              </a:defRPr>
            </a:pPr>
            <a:r>
              <a:t>SYNAPTECHBIO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3716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 i="0">
                <a:solidFill>
                  <a:srgbClr val="FFFFFF"/>
                </a:solidFill>
                <a:latin typeface="Calibri"/>
              </a:defRPr>
            </a:pPr>
            <a:r>
              <a:t>The Full-Stack Ecosystem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0D7377"/>
                </a:solidFill>
                <a:latin typeface="Calibri"/>
              </a:defRPr>
            </a:pPr>
            <a:r>
              <a:t>synaptech-idre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749039" y="22860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B0BEC5"/>
                </a:solidFill>
                <a:latin typeface="Calibri"/>
              </a:defRPr>
            </a:pPr>
            <a:r>
              <a:t>Core Product — Connectome computation engine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22860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0D7377"/>
                </a:solidFill>
                <a:latin typeface="Calibri"/>
              </a:defRPr>
            </a:pPr>
            <a:r>
              <a:t>Flywirellm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78240" y="22860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B0BEC5"/>
                </a:solidFill>
                <a:latin typeface="Calibri"/>
              </a:defRPr>
            </a:pPr>
            <a:r>
              <a:t>Scientific Validation — &gt;95% LSM accuracy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7889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14A3A8"/>
                </a:solidFill>
                <a:latin typeface="Calibri"/>
              </a:defRPr>
            </a:pPr>
            <a:r>
              <a:t>flywire-realtime-engine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49039" y="27889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B0BEC5"/>
                </a:solidFill>
                <a:latin typeface="Calibri"/>
              </a:defRPr>
            </a:pPr>
            <a:r>
              <a:t>Proof of Concept — 60Hz closed-loop simulation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7889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14A3A8"/>
                </a:solidFill>
                <a:latin typeface="Calibri"/>
              </a:defRPr>
            </a:pPr>
            <a:r>
              <a:t>EVE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0" y="27889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B0BEC5"/>
                </a:solidFill>
                <a:latin typeface="Calibri"/>
              </a:defRPr>
            </a:pPr>
            <a:r>
              <a:t>AI Alignment — Self-verifying knowledge entity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32918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0D7377"/>
                </a:solidFill>
                <a:latin typeface="Calibri"/>
              </a:defRPr>
            </a:pPr>
            <a:r>
              <a:t>OpenMonoAgent.ai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49039" y="32918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B0BEC5"/>
                </a:solidFill>
                <a:latin typeface="Calibri"/>
              </a:defRPr>
            </a:pPr>
            <a:r>
              <a:t>AI Infrastructure — We build AI tooling itself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32918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FFD166"/>
                </a:solidFill>
                <a:latin typeface="Calibri"/>
              </a:defRPr>
            </a:pPr>
            <a:r>
              <a:t>digidollar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8240" y="32918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B0BEC5"/>
                </a:solidFill>
                <a:latin typeface="Calibri"/>
              </a:defRPr>
            </a:pPr>
            <a:r>
              <a:t>Decentralized Compute — ASIC-resistant PoW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7947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FFD166"/>
                </a:solidFill>
                <a:latin typeface="Calibri"/>
              </a:defRPr>
            </a:pPr>
            <a:r>
              <a:t>samchat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49039" y="37947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B0BEC5"/>
                </a:solidFill>
                <a:latin typeface="Calibri"/>
              </a:defRPr>
            </a:pPr>
            <a:r>
              <a:t>Research Communication — Encrypted Matrix protocol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37947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B0BEC5"/>
                </a:solidFill>
                <a:latin typeface="Calibri"/>
              </a:defRPr>
            </a:pPr>
            <a:r>
              <a:t>the-unified-blueprint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78240" y="37947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B0BEC5"/>
                </a:solidFill>
                <a:latin typeface="Calibri"/>
              </a:defRPr>
            </a:pPr>
            <a:r>
              <a:t>Organizational Design — Flat hierarchy, collective ownership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42976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B0BEC5"/>
                </a:solidFill>
                <a:latin typeface="Calibri"/>
              </a:defRPr>
            </a:pPr>
            <a:r>
              <a:t>Project-FreeGen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49039" y="42976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B0BEC5"/>
                </a:solidFill>
                <a:latin typeface="Calibri"/>
              </a:defRPr>
            </a:pPr>
            <a:r>
              <a:t>Systems Engineering — Vulkan/FSR capability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42976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B0BEC5"/>
                </a:solidFill>
                <a:latin typeface="Calibri"/>
              </a:defRPr>
            </a:pPr>
            <a:r>
              <a:t>ollama-bench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78240" y="42976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B0BEC5"/>
                </a:solidFill>
                <a:latin typeface="Calibri"/>
              </a:defRPr>
            </a:pPr>
            <a:r>
              <a:t>AI Benchmarking — Performance measurement infrastructure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6355080"/>
            <a:ext cx="11460175" cy="6350"/>
          </a:xfrm>
          <a:prstGeom prst="rect">
            <a:avLst/>
          </a:prstGeom>
          <a:solidFill>
            <a:srgbClr val="0D7377">
              <a:lumMod val="30000"/>
              <a:lumOff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" y="64008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B0BEC5"/>
                </a:solidFill>
                <a:latin typeface="Calibri"/>
              </a:defRPr>
            </a:pPr>
            <a:r>
              <a:t>Slide 07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00400" y="640080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B0BEC5"/>
                </a:solidFill>
                <a:latin typeface="Calibri"/>
              </a:defRPr>
            </a:pPr>
            <a:r>
              <a:t>The OS for Neuromorphic Intelligence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0" y="6400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1">
                <a:solidFill>
                  <a:srgbClr val="B0BEC5"/>
                </a:solidFill>
                <a:latin typeface="Calibri"/>
              </a:defRPr>
            </a:pPr>
            <a:r>
              <a:t>Confidential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F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3200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FFFFFF"/>
                </a:solidFill>
                <a:latin typeface="Calibri"/>
              </a:defRPr>
            </a:pPr>
            <a:r>
              <a:t>SYNAPTECHBIO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3716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FFFFF"/>
                </a:solidFill>
                <a:latin typeface="Calibri"/>
              </a:defRPr>
            </a:pPr>
            <a:r>
              <a:t>RPaaS — Research-Platform-as-a-Service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2286000"/>
            <a:ext cx="2926080" cy="3200400"/>
          </a:xfrm>
          <a:prstGeom prst="roundRect">
            <a:avLst/>
          </a:prstGeom>
          <a:solidFill>
            <a:srgbClr val="0B2B3E"/>
          </a:solidFill>
          <a:ln w="19050">
            <a:solidFill>
              <a:srgbClr val="0D73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554480" y="24688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0D7377"/>
                </a:solidFill>
                <a:latin typeface="Calibri"/>
              </a:defRPr>
            </a:pPr>
            <a:r>
              <a:t>FREE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29260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$0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338328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 i="0">
                <a:solidFill>
                  <a:srgbClr val="B0BEC5"/>
                </a:solidFill>
                <a:latin typeface="Calibri"/>
              </a:defRPr>
            </a:pPr>
            <a:r>
              <a:t>Forever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3931920"/>
            <a:ext cx="2560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 i="0">
                <a:solidFill>
                  <a:srgbClr val="B0BEC5"/>
                </a:solidFill>
                <a:latin typeface="Calibri"/>
              </a:defRPr>
            </a:pPr>
            <a:r>
              <a:t>Community access</a:t>
            </a:r>
            <a:br/>
            <a:r>
              <a:t>Basic connectome</a:t>
            </a:r>
            <a:br/>
            <a:r>
              <a:t>Limited compute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0" y="2286000"/>
            <a:ext cx="2926080" cy="3200400"/>
          </a:xfrm>
          <a:prstGeom prst="roundRect">
            <a:avLst/>
          </a:prstGeom>
          <a:solidFill>
            <a:srgbClr val="0B2B3E"/>
          </a:solidFill>
          <a:ln w="19050">
            <a:solidFill>
              <a:srgbClr val="FFD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54880" y="24688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FFD166"/>
                </a:solidFill>
                <a:latin typeface="Calibri"/>
              </a:defRPr>
            </a:pPr>
            <a:r>
              <a:t>INSTITUTIONAL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29260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$300k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338328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 i="0">
                <a:solidFill>
                  <a:srgbClr val="B0BEC5"/>
                </a:solidFill>
                <a:latin typeface="Calibri"/>
              </a:defRPr>
            </a:pPr>
            <a:r>
              <a:t>ACV / Year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3931920"/>
            <a:ext cx="2560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 i="0">
                <a:solidFill>
                  <a:srgbClr val="B0BEC5"/>
                </a:solidFill>
                <a:latin typeface="Calibri"/>
              </a:defRPr>
            </a:pPr>
            <a:r>
              <a:t>Full IDRE + DCSL</a:t>
            </a:r>
            <a:br/>
            <a:r>
              <a:t>Loihi compile</a:t>
            </a:r>
            <a:br/>
            <a:r>
              <a:t>Priority support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0" y="2286000"/>
            <a:ext cx="2926080" cy="3200400"/>
          </a:xfrm>
          <a:prstGeom prst="roundRect">
            <a:avLst/>
          </a:prstGeom>
          <a:solidFill>
            <a:srgbClr val="0B2B3E"/>
          </a:solidFill>
          <a:ln w="19050">
            <a:solidFill>
              <a:srgbClr val="14A3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55279" y="24688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14A3A8"/>
                </a:solidFill>
                <a:latin typeface="Calibri"/>
              </a:defRPr>
            </a:pPr>
            <a:r>
              <a:t>ENTERPRISE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55279" y="29260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Custom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55279" y="3931920"/>
            <a:ext cx="2560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 i="0">
                <a:solidFill>
                  <a:srgbClr val="B0BEC5"/>
                </a:solidFill>
                <a:latin typeface="Calibri"/>
              </a:defRPr>
            </a:pPr>
            <a:r>
              <a:t>Dedicated Loihi</a:t>
            </a:r>
            <a:br/>
            <a:r>
              <a:t>Custom deployment</a:t>
            </a:r>
            <a:br/>
            <a:r>
              <a:t>SLA + dedicated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57607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FFD166"/>
                </a:solidFill>
                <a:latin typeface="Calibri"/>
              </a:defRPr>
            </a:pPr>
            <a:r>
              <a:t>Market Sizing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60350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B0BEC5"/>
                </a:solidFill>
                <a:latin typeface="Calibri"/>
              </a:defRPr>
            </a:pPr>
            <a:r>
              <a:t>TAM: $1.8T  |  SAM: $300B  |  SOM: $450M (1,500 hubs x $300k ACV)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6355080"/>
            <a:ext cx="11460175" cy="6350"/>
          </a:xfrm>
          <a:prstGeom prst="rect">
            <a:avLst/>
          </a:prstGeom>
          <a:solidFill>
            <a:srgbClr val="0D7377">
              <a:lumMod val="30000"/>
              <a:lumOff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" y="64008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B0BEC5"/>
                </a:solidFill>
                <a:latin typeface="Calibri"/>
              </a:defRPr>
            </a:pPr>
            <a:r>
              <a:t>Slide 08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00400" y="640080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B0BEC5"/>
                </a:solidFill>
                <a:latin typeface="Calibri"/>
              </a:defRPr>
            </a:pPr>
            <a:r>
              <a:t>The OS for Neuromorphic Intelligence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0" y="6400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1">
                <a:solidFill>
                  <a:srgbClr val="B0BEC5"/>
                </a:solidFill>
                <a:latin typeface="Calibri"/>
              </a:defRPr>
            </a:pPr>
            <a:r>
              <a:t>Confidential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F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3200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FFFFFF"/>
                </a:solidFill>
                <a:latin typeface="Calibri"/>
              </a:defRPr>
            </a:pPr>
            <a:r>
              <a:t>SYNAPTECHBIO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3716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 i="0">
                <a:solidFill>
                  <a:srgbClr val="FFFFFF"/>
                </a:solidFill>
                <a:latin typeface="Calibri"/>
              </a:defRPr>
            </a:pPr>
            <a:r>
              <a:t>Why Austin?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0116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 i="0">
                <a:solidFill>
                  <a:srgbClr val="0D7377"/>
                </a:solidFill>
                <a:latin typeface="Calibri"/>
              </a:defRPr>
            </a:pPr>
            <a:r>
              <a:t>The Next Great Tech City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743200"/>
            <a:ext cx="822960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B0BEC5"/>
                </a:solidFill>
                <a:latin typeface="Calibri"/>
              </a:defRPr>
            </a:pPr>
            <a:r>
              <a:t>40% lower cost of living than San Francisco</a:t>
            </a:r>
          </a:p>
          <a:p>
            <a:pPr>
              <a:spcAft>
                <a:spcPts val="600"/>
              </a:spcAft>
              <a:defRPr sz="1400">
                <a:solidFill>
                  <a:srgbClr val="B0BEC5"/>
                </a:solidFill>
                <a:latin typeface="Calibri"/>
              </a:defRPr>
            </a:pPr>
            <a:r>
              <a:t>No state income tax — net take-home pay is significantly higher</a:t>
            </a:r>
          </a:p>
          <a:p>
            <a:pPr>
              <a:spcAft>
                <a:spcPts val="600"/>
              </a:spcAft>
              <a:defRPr sz="1400">
                <a:solidFill>
                  <a:srgbClr val="B0BEC5"/>
                </a:solidFill>
                <a:latin typeface="Calibri"/>
              </a:defRPr>
            </a:pPr>
            <a:r>
              <a:t>UT Austin provides a world-class engineering pipeline</a:t>
            </a:r>
          </a:p>
          <a:p>
            <a:pPr>
              <a:spcAft>
                <a:spcPts val="600"/>
              </a:spcAft>
              <a:defRPr sz="1400">
                <a:solidFill>
                  <a:srgbClr val="B0BEC5"/>
                </a:solidFill>
                <a:latin typeface="Calibri"/>
              </a:defRPr>
            </a:pPr>
            <a:r>
              <a:t>Tesla, Apple, Google, Oracle — all have major Austin operations</a:t>
            </a:r>
          </a:p>
          <a:p>
            <a:pPr>
              <a:spcAft>
                <a:spcPts val="600"/>
              </a:spcAft>
              <a:defRPr sz="1400">
                <a:solidFill>
                  <a:srgbClr val="B0BEC5"/>
                </a:solidFill>
                <a:latin typeface="Calibri"/>
              </a:defRPr>
            </a:pPr>
            <a:r>
              <a:t>Austin doesn't have its defining tech company yet. We're building it.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45720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 i="1">
                <a:solidFill>
                  <a:srgbClr val="FFD166"/>
                </a:solidFill>
                <a:latin typeface="Calibri"/>
              </a:defRPr>
            </a:pPr>
            <a:r>
              <a:t>"Valve is in Bellevue. We're bringing the Valve model to Austin."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53035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FFD166"/>
                </a:solidFill>
                <a:latin typeface="Calibri"/>
              </a:defRPr>
            </a:pPr>
            <a:r>
              <a:t>Effective Cost of Engineering Talent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55778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B0BEC5"/>
                </a:solidFill>
                <a:latin typeface="Calibri"/>
              </a:defRPr>
            </a:pPr>
            <a:r>
              <a:t>SF: $495k  |  Seattle: $383k  |  NYC: $430k  |  Austin: $251k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53035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FFD166"/>
                </a:solidFill>
                <a:latin typeface="Calibri"/>
              </a:defRPr>
            </a:pPr>
            <a:r>
              <a:t>Austin Advantage: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55778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00FF88"/>
                </a:solidFill>
                <a:latin typeface="Calibri"/>
              </a:defRPr>
            </a:pPr>
            <a:r>
              <a:t>49% lower effective cost than SF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6355080"/>
            <a:ext cx="11460175" cy="6350"/>
          </a:xfrm>
          <a:prstGeom prst="rect">
            <a:avLst/>
          </a:prstGeom>
          <a:solidFill>
            <a:srgbClr val="0D7377">
              <a:lumMod val="30000"/>
              <a:lumOff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64008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B0BEC5"/>
                </a:solidFill>
                <a:latin typeface="Calibri"/>
              </a:defRPr>
            </a:pPr>
            <a:r>
              <a:t>Slide 09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640080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B0BEC5"/>
                </a:solidFill>
                <a:latin typeface="Calibri"/>
              </a:defRPr>
            </a:pPr>
            <a:r>
              <a:t>The OS for Neuromorphic Intelligence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0" y="6400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1">
                <a:solidFill>
                  <a:srgbClr val="B0BEC5"/>
                </a:solidFill>
                <a:latin typeface="Calibri"/>
              </a:defRPr>
            </a:pPr>
            <a:r>
              <a:t>Confidential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F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3200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FFFFFF"/>
                </a:solidFill>
                <a:latin typeface="Calibri"/>
              </a:defRPr>
            </a:pPr>
            <a:r>
              <a:t>SYNAPTECHBIO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3716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 i="0">
                <a:solidFill>
                  <a:srgbClr val="FFFFFF"/>
                </a:solidFill>
                <a:latin typeface="Calibri"/>
              </a:defRPr>
            </a:pPr>
            <a:r>
              <a:t>A Super Organism, Not a Corporation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0116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0D7377"/>
                </a:solidFill>
                <a:latin typeface="Calibri"/>
              </a:defRPr>
            </a:pPr>
            <a:r>
              <a:t>Flat Hierarchy  |  Equity for All  |  Community Governance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743200"/>
            <a:ext cx="8229600" cy="19202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B0BEC5"/>
                </a:solidFill>
                <a:latin typeface="Calibri"/>
              </a:defRPr>
            </a:pPr>
            <a:r>
              <a:t>Self-organizing teams form around problems, not departments — no permanent managers</a:t>
            </a:r>
          </a:p>
          <a:p>
            <a:pPr>
              <a:spcAft>
                <a:spcPts val="600"/>
              </a:spcAft>
              <a:defRPr sz="1300">
                <a:solidFill>
                  <a:srgbClr val="B0BEC5"/>
                </a:solidFill>
                <a:latin typeface="Calibri"/>
              </a:defRPr>
            </a:pPr>
            <a:r>
              <a:t>Equity for every contributor active 6+ months — 15% pool reserved</a:t>
            </a:r>
          </a:p>
          <a:p>
            <a:pPr>
              <a:spcAft>
                <a:spcPts val="600"/>
              </a:spcAft>
              <a:defRPr sz="1300">
                <a:solidFill>
                  <a:srgbClr val="B0BEC5"/>
                </a:solidFill>
                <a:latin typeface="Calibri"/>
              </a:defRPr>
            </a:pPr>
            <a:r>
              <a:t>Transparent pay bands: same role, same starting pay — no negotiation advantage</a:t>
            </a:r>
          </a:p>
          <a:p>
            <a:pPr>
              <a:spcAft>
                <a:spcPts val="600"/>
              </a:spcAft>
              <a:defRPr sz="1300">
                <a:solidFill>
                  <a:srgbClr val="B0BEC5"/>
                </a:solidFill>
                <a:latin typeface="Calibri"/>
              </a:defRPr>
            </a:pPr>
            <a:r>
              <a:t>Ethical Review Board (community-elected) with binding veto on dual-use features</a:t>
            </a:r>
          </a:p>
          <a:p>
            <a:pPr>
              <a:spcAft>
                <a:spcPts val="600"/>
              </a:spcAft>
              <a:defRPr sz="1300">
                <a:solidFill>
                  <a:srgbClr val="B0BEC5"/>
                </a:solidFill>
                <a:latin typeface="Calibri"/>
              </a:defRPr>
            </a:pPr>
            <a:r>
              <a:t>Community Council guides roadmap via RFC process — founder is steward, not CEO</a:t>
            </a:r>
          </a:p>
          <a:p>
            <a:pPr>
              <a:spcAft>
                <a:spcPts val="600"/>
              </a:spcAft>
              <a:defRPr sz="1300">
                <a:solidFill>
                  <a:srgbClr val="B0BEC5"/>
                </a:solidFill>
                <a:latin typeface="Calibri"/>
              </a:defRPr>
            </a:pPr>
            <a:r>
              <a:t>20% of platform revenue distributed to contributors quarterly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54864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1">
                <a:solidFill>
                  <a:srgbClr val="FFD166"/>
                </a:solidFill>
                <a:latin typeface="Calibri"/>
              </a:defRPr>
            </a:pPr>
            <a:r>
              <a:t>"Currently: one founder. When funding arrives, it flows to the people building."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6355080"/>
            <a:ext cx="11460175" cy="6350"/>
          </a:xfrm>
          <a:prstGeom prst="rect">
            <a:avLst/>
          </a:prstGeom>
          <a:solidFill>
            <a:srgbClr val="0D7377">
              <a:lumMod val="30000"/>
              <a:lumOff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4008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B0BEC5"/>
                </a:solidFill>
                <a:latin typeface="Calibri"/>
              </a:defRPr>
            </a:pPr>
            <a:r>
              <a:t>Slide 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640080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B0BEC5"/>
                </a:solidFill>
                <a:latin typeface="Calibri"/>
              </a:defRPr>
            </a:pPr>
            <a:r>
              <a:t>The OS for Neuromorphic Intelligence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0" y="6400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1">
                <a:solidFill>
                  <a:srgbClr val="B0BEC5"/>
                </a:solidFill>
                <a:latin typeface="Calibri"/>
              </a:defRPr>
            </a:pPr>
            <a:r>
              <a:t>Confidential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F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3200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FFFFFF"/>
                </a:solidFill>
                <a:latin typeface="Calibri"/>
              </a:defRPr>
            </a:pPr>
            <a:r>
              <a:t>SYNAPTECHBIO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3716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 i="0">
                <a:solidFill>
                  <a:srgbClr val="FFFFFF"/>
                </a:solidFill>
                <a:latin typeface="Calibri"/>
              </a:defRPr>
            </a:pPr>
            <a:r>
              <a:t>The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0116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 i="0">
                <a:solidFill>
                  <a:srgbClr val="0D7377"/>
                </a:solidFill>
                <a:latin typeface="Calibri"/>
              </a:defRPr>
            </a:pPr>
            <a:r>
              <a:t>26 Weeks to Series A Ready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7432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0D7377"/>
                </a:solidFill>
                <a:latin typeface="Calibri"/>
              </a:defRPr>
            </a:pPr>
            <a:r>
              <a:t>P0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03120" y="27432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FFFFFF"/>
                </a:solidFill>
                <a:latin typeface="Calibri"/>
              </a:defRPr>
            </a:pPr>
            <a:r>
              <a:t>Multi-Tenant Auth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27432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FFD166"/>
                </a:solidFill>
                <a:latin typeface="Calibri"/>
              </a:defRPr>
            </a:pPr>
            <a:r>
              <a:t>$15k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0" y="27432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B0BEC5"/>
                </a:solidFill>
                <a:latin typeface="Calibri"/>
              </a:defRPr>
            </a:pPr>
            <a:r>
              <a:t>Week 1-3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27432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FFD166"/>
                </a:solidFill>
                <a:latin typeface="Calibri"/>
              </a:defRPr>
            </a:pPr>
            <a:r>
              <a:t>◆ Security audit pass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15468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0D7377"/>
                </a:solidFill>
                <a:latin typeface="Calibri"/>
              </a:defRPr>
            </a:pPr>
            <a:r>
              <a:t>P1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03120" y="31546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FFFFFF"/>
                </a:solidFill>
                <a:latin typeface="Calibri"/>
              </a:defRPr>
            </a:pPr>
            <a:r>
              <a:t>DCSL + Embeddings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315468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FFD166"/>
                </a:solidFill>
                <a:latin typeface="Calibri"/>
              </a:defRPr>
            </a:pPr>
            <a:r>
              <a:t>$25k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0" y="315468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B0BEC5"/>
                </a:solidFill>
                <a:latin typeface="Calibri"/>
              </a:defRPr>
            </a:pPr>
            <a:r>
              <a:t>Week 4-6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31546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FFD166"/>
                </a:solidFill>
                <a:latin typeface="Calibri"/>
              </a:defRPr>
            </a:pPr>
            <a:r>
              <a:t>◆ First researcher onboarded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35661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0D7377"/>
                </a:solidFill>
                <a:latin typeface="Calibri"/>
              </a:defRPr>
            </a:pPr>
            <a:r>
              <a:t>P2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03120" y="35661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FFFFFF"/>
                </a:solidFill>
                <a:latin typeface="Calibri"/>
              </a:defRPr>
            </a:pPr>
            <a:r>
              <a:t>LSM Demo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0" y="356616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FFD166"/>
                </a:solidFill>
                <a:latin typeface="Calibri"/>
              </a:defRPr>
            </a:pPr>
            <a:r>
              <a:t>$20k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03520" y="356616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B0BEC5"/>
                </a:solidFill>
                <a:latin typeface="Calibri"/>
              </a:defRPr>
            </a:pPr>
            <a:r>
              <a:t>Week 7-9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35661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FFD166"/>
                </a:solidFill>
                <a:latin typeface="Calibri"/>
              </a:defRPr>
            </a:pPr>
            <a:r>
              <a:t>◆ YC/NEA demo ready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776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0D7377"/>
                </a:solidFill>
                <a:latin typeface="Calibri"/>
              </a:defRPr>
            </a:pPr>
            <a:r>
              <a:t>P3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03120" y="39776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FFFFFF"/>
                </a:solidFill>
                <a:latin typeface="Calibri"/>
              </a:defRPr>
            </a:pPr>
            <a:r>
              <a:t>Open Brain Portal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0" y="39776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FFD166"/>
                </a:solidFill>
                <a:latin typeface="Calibri"/>
              </a:defRPr>
            </a:pPr>
            <a:r>
              <a:t>$25k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3520" y="39776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B0BEC5"/>
                </a:solidFill>
                <a:latin typeface="Calibri"/>
              </a:defRPr>
            </a:pPr>
            <a:r>
              <a:t>Week 10-13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39776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FFD166"/>
                </a:solidFill>
                <a:latin typeface="Calibri"/>
              </a:defRPr>
            </a:pPr>
            <a:r>
              <a:t>◆ 50+ DAU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43891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0D7377"/>
                </a:solidFill>
                <a:latin typeface="Calibri"/>
              </a:defRPr>
            </a:pPr>
            <a:r>
              <a:t>P4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103120" y="43891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FFFFFF"/>
                </a:solidFill>
                <a:latin typeface="Calibri"/>
              </a:defRPr>
            </a:pPr>
            <a:r>
              <a:t>Continuous Alignment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0" y="43891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FFD166"/>
                </a:solidFill>
                <a:latin typeface="Calibri"/>
              </a:defRPr>
            </a:pPr>
            <a:r>
              <a:t>$25k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03520" y="43891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B0BEC5"/>
                </a:solidFill>
                <a:latin typeface="Calibri"/>
              </a:defRPr>
            </a:pPr>
            <a:r>
              <a:t>Week 14-17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0" y="43891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FFD166"/>
                </a:solidFill>
                <a:latin typeface="Calibri"/>
              </a:defRPr>
            </a:pPr>
            <a:r>
              <a:t>◆ Living Blueprint v1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71600" y="48006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0D7377"/>
                </a:solidFill>
                <a:latin typeface="Calibri"/>
              </a:defRPr>
            </a:pPr>
            <a:r>
              <a:t>P5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03120" y="48006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FFFFFF"/>
                </a:solidFill>
                <a:latin typeface="Calibri"/>
              </a:defRPr>
            </a:pPr>
            <a:r>
              <a:t>Cloud Loihi Farm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14800" y="48006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FFD166"/>
                </a:solidFill>
                <a:latin typeface="Calibri"/>
              </a:defRPr>
            </a:pPr>
            <a:r>
              <a:t>$20k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303520" y="48006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B0BEC5"/>
                </a:solidFill>
                <a:latin typeface="Calibri"/>
              </a:defRPr>
            </a:pPr>
            <a:r>
              <a:t>Week 18-21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0" y="48006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FFD166"/>
                </a:solidFill>
                <a:latin typeface="Calibri"/>
              </a:defRPr>
            </a:pPr>
            <a:r>
              <a:t>◆ First community experiment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71600" y="521208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0D7377"/>
                </a:solidFill>
                <a:latin typeface="Calibri"/>
              </a:defRPr>
            </a:pPr>
            <a:r>
              <a:t>P6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103120" y="52120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FFFFFF"/>
                </a:solidFill>
                <a:latin typeface="Calibri"/>
              </a:defRPr>
            </a:pPr>
            <a:r>
              <a:t>Scale &amp; Benchmark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14800" y="521208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FFD166"/>
                </a:solidFill>
                <a:latin typeface="Calibri"/>
              </a:defRPr>
            </a:pPr>
            <a:r>
              <a:t>$20k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303520" y="521208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B0BEC5"/>
                </a:solidFill>
                <a:latin typeface="Calibri"/>
              </a:defRPr>
            </a:pPr>
            <a:r>
              <a:t>Week 22-26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83680" y="52120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FFD166"/>
                </a:solidFill>
                <a:latin typeface="Calibri"/>
              </a:defRPr>
            </a:pPr>
            <a:r>
              <a:t>◆ 10k queries/day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371600" y="57607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FFD166"/>
                </a:solidFill>
                <a:latin typeface="Calibri"/>
              </a:defRPr>
            </a:pPr>
            <a:r>
              <a:t>Total: $150k  |  Every phase funds the next. Every dollar is a brick in the foundation.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65760" y="6355080"/>
            <a:ext cx="11460175" cy="6350"/>
          </a:xfrm>
          <a:prstGeom prst="rect">
            <a:avLst/>
          </a:prstGeom>
          <a:solidFill>
            <a:srgbClr val="0D7377">
              <a:lumMod val="30000"/>
              <a:lumOff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65760" y="64008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B0BEC5"/>
                </a:solidFill>
                <a:latin typeface="Calibri"/>
              </a:defRPr>
            </a:pPr>
            <a:r>
              <a:t>Slide 11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200400" y="640080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B0BEC5"/>
                </a:solidFill>
                <a:latin typeface="Calibri"/>
              </a:defRPr>
            </a:pPr>
            <a:r>
              <a:t>The OS for Neuromorphic Intelligence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601200" y="6400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1">
                <a:solidFill>
                  <a:srgbClr val="B0BEC5"/>
                </a:solidFill>
                <a:latin typeface="Calibri"/>
              </a:defRPr>
            </a:pPr>
            <a:r>
              <a:t>Confidential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F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3200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FFFFFF"/>
                </a:solidFill>
                <a:latin typeface="Calibri"/>
              </a:defRPr>
            </a:pPr>
            <a:r>
              <a:t>SYNAPTECHBIO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3716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 i="0">
                <a:solidFill>
                  <a:srgbClr val="FFFFFF"/>
                </a:solidFill>
                <a:latin typeface="Calibri"/>
              </a:defRPr>
            </a:pPr>
            <a:r>
              <a:t>Use of Funds: $150,000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FFFFFF"/>
                </a:solidFill>
                <a:latin typeface="Calibri"/>
              </a:defRPr>
            </a:pPr>
            <a:r>
              <a:t>Engineering (2 FTE)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0" y="22860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FFD166"/>
                </a:solidFill>
                <a:latin typeface="Calibri"/>
              </a:defRPr>
            </a:pPr>
            <a:r>
              <a:t>$80,000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0" y="228600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B0BEC5"/>
                </a:solidFill>
                <a:latin typeface="Calibri"/>
              </a:defRPr>
            </a:pPr>
            <a:r>
              <a:t>53%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7432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FFFFFF"/>
                </a:solidFill>
                <a:latin typeface="Calibri"/>
              </a:defRPr>
            </a:pPr>
            <a:r>
              <a:t>Cloud GPU (Lambda Labs)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0" y="27432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FFD166"/>
                </a:solidFill>
                <a:latin typeface="Calibri"/>
              </a:defRPr>
            </a:pPr>
            <a:r>
              <a:t>$30,000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0" y="274320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B0BEC5"/>
                </a:solidFill>
                <a:latin typeface="Calibri"/>
              </a:defRPr>
            </a:pPr>
            <a:r>
              <a:t>20%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004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FFFFFF"/>
                </a:solidFill>
                <a:latin typeface="Calibri"/>
              </a:defRPr>
            </a:pPr>
            <a:r>
              <a:t>INRC / Loihi Access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0" y="32004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FFD166"/>
                </a:solidFill>
                <a:latin typeface="Calibri"/>
              </a:defRPr>
            </a:pPr>
            <a:r>
              <a:t>$15,000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0" y="320040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B0BEC5"/>
                </a:solidFill>
                <a:latin typeface="Calibri"/>
              </a:defRPr>
            </a:pPr>
            <a:r>
              <a:t>10%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36576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FFFFFF"/>
                </a:solidFill>
                <a:latin typeface="Calibri"/>
              </a:defRPr>
            </a:pPr>
            <a:r>
              <a:t>Legal / IP Counsel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0" y="36576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FFD166"/>
                </a:solidFill>
                <a:latin typeface="Calibri"/>
              </a:defRPr>
            </a:pPr>
            <a:r>
              <a:t>$10,000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0" y="365760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B0BEC5"/>
                </a:solidFill>
                <a:latin typeface="Calibri"/>
              </a:defRPr>
            </a:pPr>
            <a:r>
              <a:t>7%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41148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FFFFFF"/>
                </a:solidFill>
                <a:latin typeface="Calibri"/>
              </a:defRPr>
            </a:pPr>
            <a:r>
              <a:t>Infrastructure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0" y="4114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FFD166"/>
                </a:solidFill>
                <a:latin typeface="Calibri"/>
              </a:defRPr>
            </a:pPr>
            <a:r>
              <a:t>$10,000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0" y="411480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B0BEC5"/>
                </a:solidFill>
                <a:latin typeface="Calibri"/>
              </a:defRPr>
            </a:pPr>
            <a:r>
              <a:t>7%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5720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FFFFFF"/>
                </a:solidFill>
                <a:latin typeface="Calibri"/>
              </a:defRPr>
            </a:pPr>
            <a:r>
              <a:t>Marketing / Travel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0" y="45720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FFD166"/>
                </a:solidFill>
                <a:latin typeface="Calibri"/>
              </a:defRPr>
            </a:pPr>
            <a:r>
              <a:t>$5,000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32320" y="457200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B0BEC5"/>
                </a:solidFill>
                <a:latin typeface="Calibri"/>
              </a:defRPr>
            </a:pPr>
            <a:r>
              <a:t>3%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54864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FFD166"/>
                </a:solidFill>
                <a:latin typeface="Calibri"/>
              </a:defRPr>
            </a:pPr>
            <a:r>
              <a:t>Zero dollars for executive bonuses.  Zero for corner offices.  Zero for consultants.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1600" y="594360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FFFFFF"/>
                </a:solidFill>
                <a:latin typeface="Calibri"/>
              </a:defRPr>
            </a:pPr>
            <a:r>
              <a:t>Every dollar goes to the mission.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6355080"/>
            <a:ext cx="11460175" cy="6350"/>
          </a:xfrm>
          <a:prstGeom prst="rect">
            <a:avLst/>
          </a:prstGeom>
          <a:solidFill>
            <a:srgbClr val="0D7377">
              <a:lumMod val="30000"/>
              <a:lumOff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" y="64008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B0BEC5"/>
                </a:solidFill>
                <a:latin typeface="Calibri"/>
              </a:defRPr>
            </a:pPr>
            <a:r>
              <a:t>Slide 12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00400" y="640080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B0BEC5"/>
                </a:solidFill>
                <a:latin typeface="Calibri"/>
              </a:defRPr>
            </a:pPr>
            <a:r>
              <a:t>The OS for Neuromorphic Intelligence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0" y="6400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1">
                <a:solidFill>
                  <a:srgbClr val="B0BEC5"/>
                </a:solidFill>
                <a:latin typeface="Calibri"/>
              </a:defRPr>
            </a:pPr>
            <a:r>
              <a:t>Confidential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F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1828800"/>
            <a:ext cx="85340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400" b="0" i="1">
                <a:solidFill>
                  <a:srgbClr val="FFFFFF"/>
                </a:solidFill>
                <a:latin typeface="Calibri"/>
              </a:defRPr>
            </a:pPr>
            <a:r>
              <a:t>"The future of intelligence</a:t>
            </a:r>
            <a:br/>
            <a:r>
              <a:t>is not proprietary.</a:t>
            </a:r>
            <a:br/>
            <a:r>
              <a:t>It's collective."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3474720"/>
            <a:ext cx="85340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 i="0">
                <a:solidFill>
                  <a:srgbClr val="FFD166"/>
                </a:solidFill>
                <a:latin typeface="Calibri"/>
              </a:defRPr>
            </a:pPr>
            <a:r>
              <a:t>— SynapTechBio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4389120"/>
            <a:ext cx="85340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 i="0">
                <a:solidFill>
                  <a:srgbClr val="14A3A8"/>
                </a:solidFill>
                <a:latin typeface="Calibri"/>
              </a:defRPr>
            </a:pPr>
            <a:r>
              <a:t>github.com/ShrekDino/SynapTechBio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4846320"/>
            <a:ext cx="85340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 i="0">
                <a:solidFill>
                  <a:srgbClr val="B0BEC5"/>
                </a:solidFill>
                <a:latin typeface="Calibri"/>
              </a:defRPr>
            </a:pPr>
            <a:r>
              <a:t>Sami Torres  |  SamiT2825@synaptechbio.org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5303520"/>
            <a:ext cx="85340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 i="0">
                <a:solidFill>
                  <a:srgbClr val="0D7377"/>
                </a:solidFill>
                <a:latin typeface="Calibri"/>
              </a:defRPr>
            </a:pPr>
            <a:r>
              <a:t>★ Star the Repo  |  💰 Invest  |  ✉️ Connect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5943600"/>
            <a:ext cx="85340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 i="0">
                <a:solidFill>
                  <a:srgbClr val="B0BEC5"/>
                </a:solidFill>
                <a:latin typeface="Calibri"/>
              </a:defRPr>
            </a:pPr>
            <a:r>
              <a:t>Delaware C-Corp (Pre-Incorporated)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